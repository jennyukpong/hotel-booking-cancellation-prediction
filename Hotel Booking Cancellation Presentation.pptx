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5" d="100"/>
          <a:sy n="65" d="100"/>
        </p:scale>
        <p:origin x="912"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day everyone. My project focuses on predicting hotel booking cancellations using machine learning. The aim is to help the hotel understand why customers cancel bookings and how data can be used to reduce revenue loss, improve planning, and support better business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Booking cancellations can seriously affect hotel performance. When guests cancel, the hotel may lose expected revenue, rooms may remain empty, and management may struggle to plan staffing, inventory, and daily operations. This project addresses that problem by using data to identify patterns linked to cancellations.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project combines business analysis and machine learning. First, I explored the dataset to understand booking behavior. Then I cleaned and prepared the data, developed machine learning models, evaluated their performance, and used the findings to make recommendations that can help the hotel reduce cancellations.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dataset includes information about customer bookings, such as how many adults and children were included, the room type selected, meal plan, lead time, average price, market segment, and whether the booking was cancelled or not. The target variable for this project is booking status.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Before analysis, I checked the quality of the dataset. The original dataset had no missing values and no duplicate records. The date of reservation column was converted into a proper datetime format, and invalid date entries identified during conversion were removed. This helped ensure the data was reliable for analysis and modelling.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Feature engineering helped create more useful variables from the existing dataset. For example, the reservation date was used to extract year, month, month name, and quarter. Lead time was also grouped into categories to better understand customer booking behaviour. Since machine learning models work with numeric values, categorical columns were encoded.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target variable showed that most bookings were completed, but the cancellation rate was still high. About one-third of all bookings were cancelled. This level of cancellation can affect revenue, occupancy planning, and hotel operations, making it important to predict cancellation risk early.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exploratory analysis showed that couples or two-adult bookings formed the largest customer segment. Most customers booked without children, and short stays were more common than extended stays. The hotel also received a large number of online bookings, showing that online channels are important for customer acquisition.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Lead time refers to the number of days between booking and arrival. The analysis showed that customers who booked far in advance were more likely to cancel. This may be because their plans are more likely to change over time. This makes lead time one of the most important variables for predicting cancellation risk.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monthly trend showed that hotel demand was not equal throughout the year. Bookings were weaker at the beginning of the year and stronger towards the second half, especially around August to October. This insight can help the hotel plan staff levels, promotions, room pricing, and inventory more effectively.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chart shows that average price differs across market segments. Online bookings generated the highest average price, suggesting that online customers may be willing to pay more due to convenience, availability, or dynamic pricing. Corporate and offline bookings fall within the mid-range, while complementary bookings contribute very little revenue. This insight suggests that the hotel should continue strengthening its online booking strategy while carefully managing low-revenue segments.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correlation heatmap showed important relationships between variables. Repeat guests had a strong link with previous successful bookings, which shows the value of customer loyalty. Larger groups and guests with special requests were also linked with higher spending. These findings can help the hotel target valuable customer segments.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For machine learning, columns that were not useful for prediction, such as booking ID and date-based text fields, were removed. The continuous variables, especially lead time and average price, were scaled. Since the booking status classes were imbalanced, SMOTE was used to balance cancelled and not-cancelled bookings before training the models.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Logistic Regression model performed reasonably well, achieving 79 percent accuracy. However, the Random Forest model performed much better, achieving 92 percent accuracy with balanced performance across both cancelled and not-cancelled bookings. After hyperparameter tuning, the Random Forest model maintained strong performance, so it was selected as the best model.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conclusion, this project showed that machine learning can help the hotel predict booking cancellations and make better business decisions. Lead time was one of the most important cancellation indicators, while customer history, market segment, group size, and pricing also provided useful insights. By using the Random Forest model, the hotel can identify high-risk bookings early and take action to reduce cancellations, protect revenue, and improve planning.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E122548-B8E0-434A-BDED-1F629A8B71E1}"/>
              </a:ext>
            </a:extLst>
          </p:cNvPr>
          <p:cNvSpPr>
            <a:spLocks noGrp="1"/>
          </p:cNvSpPr>
          <p:nvPr/>
        </p:nvSpPr>
        <p:spPr>
          <a:xfrm>
            <a:off x="0" y="0"/>
            <a:ext cx="285750" cy="6858000"/>
          </a:xfrm>
          <a:prstGeom prst="rect">
            <a:avLst/>
          </a:prstGeom>
          <a:solidFill>
            <a:srgbClr val="F59E0B"/>
          </a:solidFill>
          <a:ln w="0">
            <a:noFill/>
            <a:prstDash val="solid"/>
          </a:ln>
        </p:spPr>
        <p:txBody>
          <a:bodyPr/>
          <a:lstStyle/>
          <a:p>
            <a:endParaRPr lang="en-US"/>
          </a:p>
        </p:txBody>
      </p:sp>
      <p:sp>
        <p:nvSpPr>
          <p:cNvPr id="2" name="Rectangle 1">
            <a:extLst>
              <a:ext uri="{FF2B5EF4-FFF2-40B4-BE49-F238E27FC236}">
                <a16:creationId xmlns:a16="http://schemas.microsoft.com/office/drawing/2014/main" id="{286B9C07-56D8-426B-A824-3CC2145FFBD3}"/>
              </a:ext>
            </a:extLst>
          </p:cNvPr>
          <p:cNvSpPr>
            <a:spLocks noGrp="1"/>
          </p:cNvSpPr>
          <p:nvPr/>
        </p:nvSpPr>
        <p:spPr>
          <a:xfrm>
            <a:off x="876300" y="1428750"/>
            <a:ext cx="9867900" cy="1428750"/>
          </a:xfrm>
          <a:prstGeom prst="rect">
            <a:avLst/>
          </a:prstGeom>
          <a:noFill/>
          <a:ln w="0">
            <a:noFill/>
            <a:prstDash val="solid"/>
          </a:ln>
        </p:spPr>
        <p:txBody>
          <a:bodyPr lIns="0" tIns="0" rIns="0" bIns="0" anchor="t"/>
          <a:lstStyle/>
          <a:p>
            <a:pPr algn="l">
              <a:lnSpc>
                <a:spcPct val="105000"/>
              </a:lnSpc>
              <a:buNone/>
              <a:defRPr sz="4200" b="1">
                <a:solidFill>
                  <a:srgbClr val="111827"/>
                </a:solidFill>
                <a:latin typeface="Helvetica Neue"/>
                <a:ea typeface="Helvetica Neue"/>
                <a:cs typeface="Helvetica Neue"/>
              </a:defRPr>
            </a:pPr>
            <a:r>
              <a:rPr sz="4200" b="1" dirty="0">
                <a:solidFill>
                  <a:srgbClr val="111827"/>
                </a:solidFill>
                <a:latin typeface="Helvetica Neue"/>
                <a:ea typeface="Helvetica Neue"/>
                <a:cs typeface="Helvetica Neue"/>
              </a:rPr>
              <a:t>Predicting Hotel Booking Cancellations Using Machine Learning</a:t>
            </a:r>
          </a:p>
        </p:txBody>
      </p:sp>
      <p:sp>
        <p:nvSpPr>
          <p:cNvPr id="3" name="Rectangle 2">
            <a:extLst>
              <a:ext uri="{FF2B5EF4-FFF2-40B4-BE49-F238E27FC236}">
                <a16:creationId xmlns:a16="http://schemas.microsoft.com/office/drawing/2014/main" id="{E35628B7-34F5-4EC1-9E09-AFCFF11EA92C}"/>
              </a:ext>
            </a:extLst>
          </p:cNvPr>
          <p:cNvSpPr>
            <a:spLocks noGrp="1"/>
          </p:cNvSpPr>
          <p:nvPr/>
        </p:nvSpPr>
        <p:spPr>
          <a:xfrm>
            <a:off x="895350" y="3124200"/>
            <a:ext cx="7810500" cy="685800"/>
          </a:xfrm>
          <a:prstGeom prst="rect">
            <a:avLst/>
          </a:prstGeom>
          <a:noFill/>
          <a:ln w="0">
            <a:noFill/>
            <a:prstDash val="solid"/>
          </a:ln>
        </p:spPr>
        <p:txBody>
          <a:bodyPr lIns="0" tIns="0" rIns="0" bIns="0" anchor="t"/>
          <a:lstStyle/>
          <a:p>
            <a:pPr algn="l">
              <a:lnSpc>
                <a:spcPct val="115000"/>
              </a:lnSpc>
              <a:buNone/>
              <a:defRPr sz="1800" b="0">
                <a:solidFill>
                  <a:srgbClr val="4B5563"/>
                </a:solidFill>
                <a:latin typeface="Helvetica Neue"/>
                <a:ea typeface="Helvetica Neue"/>
                <a:cs typeface="Helvetica Neue"/>
              </a:defRPr>
            </a:pPr>
            <a:r>
              <a:rPr sz="1800" b="0" dirty="0">
                <a:solidFill>
                  <a:srgbClr val="4B5563"/>
                </a:solidFill>
                <a:latin typeface="Helvetica Neue"/>
                <a:ea typeface="Helvetica Neue"/>
                <a:cs typeface="Helvetica Neue"/>
              </a:rPr>
              <a:t>A data analytics and machine learning approach to improve hotel revenue planning and operational efficiency</a:t>
            </a:r>
          </a:p>
        </p:txBody>
      </p:sp>
      <p:sp>
        <p:nvSpPr>
          <p:cNvPr id="4" name="Rectangle 3">
            <a:extLst>
              <a:ext uri="{FF2B5EF4-FFF2-40B4-BE49-F238E27FC236}">
                <a16:creationId xmlns:a16="http://schemas.microsoft.com/office/drawing/2014/main" id="{CE7BBF49-EB75-47A1-AB42-36797A8B4DEB}"/>
              </a:ext>
            </a:extLst>
          </p:cNvPr>
          <p:cNvSpPr>
            <a:spLocks noGrp="1"/>
          </p:cNvSpPr>
          <p:nvPr/>
        </p:nvSpPr>
        <p:spPr>
          <a:xfrm>
            <a:off x="895350" y="4095750"/>
            <a:ext cx="4762500" cy="9525"/>
          </a:xfrm>
          <a:prstGeom prst="rect">
            <a:avLst/>
          </a:prstGeom>
          <a:solidFill>
            <a:srgbClr val="D1D5DB"/>
          </a:solidFill>
          <a:ln w="0">
            <a:solidFill>
              <a:srgbClr val="D1D5DB"/>
            </a:solidFill>
            <a:prstDash val="solid"/>
          </a:ln>
        </p:spPr>
        <p:txBody>
          <a:bodyPr/>
          <a:lstStyle/>
          <a:p>
            <a:endParaRPr lang="en-US"/>
          </a:p>
        </p:txBody>
      </p:sp>
      <p:sp>
        <p:nvSpPr>
          <p:cNvPr id="5" name="Rectangle 4">
            <a:extLst>
              <a:ext uri="{FF2B5EF4-FFF2-40B4-BE49-F238E27FC236}">
                <a16:creationId xmlns:a16="http://schemas.microsoft.com/office/drawing/2014/main" id="{4CE1F13B-B37A-44A2-8EF0-1BECE50DF4C9}"/>
              </a:ext>
            </a:extLst>
          </p:cNvPr>
          <p:cNvSpPr>
            <a:spLocks noGrp="1"/>
          </p:cNvSpPr>
          <p:nvPr/>
        </p:nvSpPr>
        <p:spPr>
          <a:xfrm>
            <a:off x="895350" y="4333875"/>
            <a:ext cx="4953000" cy="666750"/>
          </a:xfrm>
          <a:prstGeom prst="rect">
            <a:avLst/>
          </a:prstGeom>
          <a:noFill/>
          <a:ln w="0">
            <a:noFill/>
            <a:prstDash val="solid"/>
          </a:ln>
        </p:spPr>
        <p:txBody>
          <a:bodyPr lIns="0" tIns="0" rIns="0" bIns="0" anchor="t"/>
          <a:lstStyle/>
          <a:p>
            <a:pPr algn="l">
              <a:lnSpc>
                <a:spcPct val="125000"/>
              </a:lnSpc>
              <a:buNone/>
              <a:defRPr sz="1575" b="0">
                <a:solidFill>
                  <a:srgbClr val="111827"/>
                </a:solidFill>
                <a:latin typeface="Helvetica Neue"/>
                <a:ea typeface="Helvetica Neue"/>
                <a:cs typeface="Helvetica Neue"/>
              </a:defRPr>
            </a:pPr>
            <a:r>
              <a:rPr sz="1575" b="0" dirty="0">
                <a:solidFill>
                  <a:srgbClr val="111827"/>
                </a:solidFill>
                <a:latin typeface="Helvetica Neue"/>
                <a:ea typeface="Helvetica Neue"/>
                <a:cs typeface="Helvetica Neue"/>
              </a:rPr>
              <a:t>Presented by: Jenefa Ukpong</a:t>
            </a:r>
          </a:p>
          <a:p>
            <a:pPr algn="l">
              <a:lnSpc>
                <a:spcPct val="125000"/>
              </a:lnSpc>
              <a:buNone/>
              <a:defRPr sz="1575" b="0">
                <a:solidFill>
                  <a:srgbClr val="111827"/>
                </a:solidFill>
                <a:latin typeface="Helvetica Neue"/>
                <a:ea typeface="Helvetica Neue"/>
                <a:cs typeface="Helvetica Neue"/>
              </a:defRPr>
            </a:pPr>
            <a:r>
              <a:rPr sz="1575" b="0" dirty="0">
                <a:solidFill>
                  <a:srgbClr val="111827"/>
                </a:solidFill>
                <a:latin typeface="Helvetica Neue"/>
                <a:ea typeface="Helvetica Neue"/>
                <a:cs typeface="Helvetica Neue"/>
              </a:rPr>
              <a:t>10Alytics Capstone Project</a:t>
            </a:r>
          </a:p>
        </p:txBody>
      </p:sp>
      <p:sp>
        <p:nvSpPr>
          <p:cNvPr id="6" name="Rectangle: Rounded Corners 5">
            <a:extLst>
              <a:ext uri="{FF2B5EF4-FFF2-40B4-BE49-F238E27FC236}">
                <a16:creationId xmlns:a16="http://schemas.microsoft.com/office/drawing/2014/main" id="{03769135-6C64-4145-99E1-E18CB6788ACD}"/>
              </a:ext>
            </a:extLst>
          </p:cNvPr>
          <p:cNvSpPr>
            <a:spLocks noGrp="1"/>
          </p:cNvSpPr>
          <p:nvPr/>
        </p:nvSpPr>
        <p:spPr>
          <a:xfrm>
            <a:off x="8001000" y="4190999"/>
            <a:ext cx="2952750" cy="1575619"/>
          </a:xfrm>
          <a:prstGeom prst="roundRect">
            <a:avLst>
              <a:gd name="adj" fmla="val 7246"/>
            </a:avLst>
          </a:prstGeom>
          <a:solidFill>
            <a:srgbClr val="F3F4F6"/>
          </a:solidFill>
          <a:ln w="9525">
            <a:solidFill>
              <a:srgbClr val="E5E7EB"/>
            </a:solidFill>
            <a:prstDash val="solid"/>
          </a:ln>
        </p:spPr>
        <p:txBody>
          <a:bodyPr/>
          <a:lstStyle/>
          <a:p>
            <a:endParaRPr lang="en-US"/>
          </a:p>
        </p:txBody>
      </p:sp>
      <p:sp>
        <p:nvSpPr>
          <p:cNvPr id="7" name="Rectangle 6">
            <a:extLst>
              <a:ext uri="{FF2B5EF4-FFF2-40B4-BE49-F238E27FC236}">
                <a16:creationId xmlns:a16="http://schemas.microsoft.com/office/drawing/2014/main" id="{6373BF65-930B-4FC6-9DE9-6B91F4C332A2}"/>
              </a:ext>
            </a:extLst>
          </p:cNvPr>
          <p:cNvSpPr>
            <a:spLocks noGrp="1"/>
          </p:cNvSpPr>
          <p:nvPr/>
        </p:nvSpPr>
        <p:spPr>
          <a:xfrm>
            <a:off x="8210550" y="4362450"/>
            <a:ext cx="2533650"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Project focus</a:t>
            </a:r>
          </a:p>
        </p:txBody>
      </p:sp>
      <p:sp>
        <p:nvSpPr>
          <p:cNvPr id="8" name="Rectangle 7">
            <a:extLst>
              <a:ext uri="{FF2B5EF4-FFF2-40B4-BE49-F238E27FC236}">
                <a16:creationId xmlns:a16="http://schemas.microsoft.com/office/drawing/2014/main" id="{F8D3DE6E-94D2-4080-A6B9-DF0E9EC8CBFA}"/>
              </a:ext>
            </a:extLst>
          </p:cNvPr>
          <p:cNvSpPr>
            <a:spLocks noGrp="1"/>
          </p:cNvSpPr>
          <p:nvPr/>
        </p:nvSpPr>
        <p:spPr>
          <a:xfrm>
            <a:off x="8210550" y="4724400"/>
            <a:ext cx="2533650" cy="6477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dirty="0">
                <a:solidFill>
                  <a:srgbClr val="4B5563"/>
                </a:solidFill>
                <a:latin typeface="Helvetica Neue"/>
                <a:ea typeface="Helvetica Neue"/>
                <a:cs typeface="Helvetica Neue"/>
              </a:rPr>
              <a:t>Understand cancellation behavior and identify high-risk bookings before revenue is lost.</a:t>
            </a:r>
          </a:p>
        </p:txBody>
      </p:sp>
    </p:spTree>
    <p:extLst>
      <p:ext uri="{BB962C8B-B14F-4D97-AF65-F5344CB8AC3E}">
        <p14:creationId xmlns:p14="http://schemas.microsoft.com/office/powerpoint/2010/main" val="598176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DC58B0E4-B2A2-4C29-979E-9F7FCA2EF2D8}"/>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Business Problem</a:t>
            </a:r>
          </a:p>
        </p:txBody>
      </p:sp>
      <p:sp>
        <p:nvSpPr>
          <p:cNvPr id="2" name="Rectangle 1">
            <a:extLst>
              <a:ext uri="{FF2B5EF4-FFF2-40B4-BE49-F238E27FC236}">
                <a16:creationId xmlns:a16="http://schemas.microsoft.com/office/drawing/2014/main" id="{C6AA62B3-48E5-4232-A116-B6E49E80CD81}"/>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6DB93D2E-EC8D-48EA-B91B-6BAAC4F2FBCE}"/>
              </a:ext>
            </a:extLst>
          </p:cNvPr>
          <p:cNvSpPr>
            <a:spLocks noGrp="1"/>
          </p:cNvSpPr>
          <p:nvPr/>
        </p:nvSpPr>
        <p:spPr>
          <a:xfrm>
            <a:off x="800100" y="1714500"/>
            <a:ext cx="5905500" cy="3143250"/>
          </a:xfrm>
          <a:prstGeom prst="rect">
            <a:avLst/>
          </a:prstGeom>
          <a:noFill/>
          <a:ln w="0">
            <a:noFill/>
            <a:prstDash val="solid"/>
          </a:ln>
        </p:spPr>
        <p:txBody>
          <a:bodyPr lIns="0" tIns="0" rIns="76200" bIns="0"/>
          <a:lstStyle/>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Revenue uncertainty from cancelled reservations</a:t>
            </a:r>
          </a:p>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Poor occupancy forecasting</a:t>
            </a:r>
          </a:p>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Inefficient staffing and room allocation</a:t>
            </a:r>
          </a:p>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Lost sales opportunities when rooms are not resold</a:t>
            </a:r>
          </a:p>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Difficulty planning daily hotel operations</a:t>
            </a:r>
          </a:p>
        </p:txBody>
      </p:sp>
      <p:sp>
        <p:nvSpPr>
          <p:cNvPr id="4" name="Rectangle: Rounded Corners 3">
            <a:extLst>
              <a:ext uri="{FF2B5EF4-FFF2-40B4-BE49-F238E27FC236}">
                <a16:creationId xmlns:a16="http://schemas.microsoft.com/office/drawing/2014/main" id="{EA8F27AF-0469-4F0E-8DE8-3EE06B0E753B}"/>
              </a:ext>
            </a:extLst>
          </p:cNvPr>
          <p:cNvSpPr>
            <a:spLocks noGrp="1"/>
          </p:cNvSpPr>
          <p:nvPr/>
        </p:nvSpPr>
        <p:spPr>
          <a:xfrm>
            <a:off x="7239000" y="1695450"/>
            <a:ext cx="3429000" cy="2095500"/>
          </a:xfrm>
          <a:prstGeom prst="roundRect">
            <a:avLst>
              <a:gd name="adj" fmla="val 4545"/>
            </a:avLst>
          </a:prstGeom>
          <a:solidFill>
            <a:srgbClr val="F59E0B"/>
          </a:solidFill>
          <a:ln w="9525">
            <a:solidFill>
              <a:srgbClr val="E5E7EB"/>
            </a:solidFill>
            <a:prstDash val="solid"/>
          </a:ln>
        </p:spPr>
        <p:txBody>
          <a:bodyPr/>
          <a:lstStyle/>
          <a:p>
            <a:endParaRPr lang="en-US"/>
          </a:p>
        </p:txBody>
      </p:sp>
      <p:sp>
        <p:nvSpPr>
          <p:cNvPr id="5" name="Rectangle 4">
            <a:extLst>
              <a:ext uri="{FF2B5EF4-FFF2-40B4-BE49-F238E27FC236}">
                <a16:creationId xmlns:a16="http://schemas.microsoft.com/office/drawing/2014/main" id="{40C046BB-C183-4130-8C23-CF6A3212FC76}"/>
              </a:ext>
            </a:extLst>
          </p:cNvPr>
          <p:cNvSpPr>
            <a:spLocks noGrp="1"/>
          </p:cNvSpPr>
          <p:nvPr/>
        </p:nvSpPr>
        <p:spPr>
          <a:xfrm>
            <a:off x="7448550" y="1866900"/>
            <a:ext cx="3009900" cy="266700"/>
          </a:xfrm>
          <a:prstGeom prst="rect">
            <a:avLst/>
          </a:prstGeom>
          <a:noFill/>
          <a:ln w="0">
            <a:noFill/>
            <a:prstDash val="solid"/>
          </a:ln>
        </p:spPr>
        <p:txBody>
          <a:bodyPr lIns="0" tIns="0" rIns="0" bIns="0" anchor="t"/>
          <a:lstStyle/>
          <a:p>
            <a:pPr algn="l">
              <a:lnSpc>
                <a:spcPct val="11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Business need</a:t>
            </a:r>
          </a:p>
        </p:txBody>
      </p:sp>
      <p:sp>
        <p:nvSpPr>
          <p:cNvPr id="6" name="Rectangle 5">
            <a:extLst>
              <a:ext uri="{FF2B5EF4-FFF2-40B4-BE49-F238E27FC236}">
                <a16:creationId xmlns:a16="http://schemas.microsoft.com/office/drawing/2014/main" id="{D760AB13-3455-494B-B2CF-7863337F3DCC}"/>
              </a:ext>
            </a:extLst>
          </p:cNvPr>
          <p:cNvSpPr>
            <a:spLocks noGrp="1"/>
          </p:cNvSpPr>
          <p:nvPr/>
        </p:nvSpPr>
        <p:spPr>
          <a:xfrm>
            <a:off x="7448550" y="2228850"/>
            <a:ext cx="3009900" cy="1428750"/>
          </a:xfrm>
          <a:prstGeom prst="rect">
            <a:avLst/>
          </a:prstGeom>
          <a:noFill/>
          <a:ln w="0">
            <a:noFill/>
            <a:prstDash val="solid"/>
          </a:ln>
        </p:spPr>
        <p:txBody>
          <a:bodyPr lIns="0" tIns="0" rIns="0" bIns="0" anchor="t"/>
          <a:lstStyle/>
          <a:p>
            <a:pPr algn="l">
              <a:lnSpc>
                <a:spcPct val="115000"/>
              </a:lnSpc>
              <a:buNone/>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The hotel needs a data-driven way to identify bookings that are likely to be cancelled before they happen.</a:t>
            </a:r>
          </a:p>
        </p:txBody>
      </p:sp>
      <p:sp>
        <p:nvSpPr>
          <p:cNvPr id="7" name="Rectangle: Rounded Corners 6">
            <a:extLst>
              <a:ext uri="{FF2B5EF4-FFF2-40B4-BE49-F238E27FC236}">
                <a16:creationId xmlns:a16="http://schemas.microsoft.com/office/drawing/2014/main" id="{615E295B-7115-4207-9A3A-0A81E6C0DB2D}"/>
              </a:ext>
            </a:extLst>
          </p:cNvPr>
          <p:cNvSpPr>
            <a:spLocks noGrp="1"/>
          </p:cNvSpPr>
          <p:nvPr/>
        </p:nvSpPr>
        <p:spPr>
          <a:xfrm>
            <a:off x="7239000" y="4095750"/>
            <a:ext cx="3429000" cy="1428750"/>
          </a:xfrm>
          <a:prstGeom prst="roundRect">
            <a:avLst>
              <a:gd name="adj" fmla="val 6667"/>
            </a:avLst>
          </a:prstGeom>
          <a:solidFill>
            <a:srgbClr val="F3F4F6"/>
          </a:solidFill>
          <a:ln w="9525">
            <a:solidFill>
              <a:srgbClr val="E5E7EB"/>
            </a:solidFill>
            <a:prstDash val="solid"/>
          </a:ln>
        </p:spPr>
        <p:txBody>
          <a:bodyPr/>
          <a:lstStyle/>
          <a:p>
            <a:endParaRPr lang="en-US"/>
          </a:p>
        </p:txBody>
      </p:sp>
      <p:sp>
        <p:nvSpPr>
          <p:cNvPr id="8" name="Rectangle 7">
            <a:extLst>
              <a:ext uri="{FF2B5EF4-FFF2-40B4-BE49-F238E27FC236}">
                <a16:creationId xmlns:a16="http://schemas.microsoft.com/office/drawing/2014/main" id="{D3A8995B-D8B3-412A-BA7A-926236EF1B71}"/>
              </a:ext>
            </a:extLst>
          </p:cNvPr>
          <p:cNvSpPr>
            <a:spLocks noGrp="1"/>
          </p:cNvSpPr>
          <p:nvPr/>
        </p:nvSpPr>
        <p:spPr>
          <a:xfrm>
            <a:off x="7448550" y="4267200"/>
            <a:ext cx="3009900"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Why it matters</a:t>
            </a:r>
          </a:p>
        </p:txBody>
      </p:sp>
      <p:sp>
        <p:nvSpPr>
          <p:cNvPr id="9" name="Rectangle 8">
            <a:extLst>
              <a:ext uri="{FF2B5EF4-FFF2-40B4-BE49-F238E27FC236}">
                <a16:creationId xmlns:a16="http://schemas.microsoft.com/office/drawing/2014/main" id="{0644D3B3-038E-4941-9F8C-3144FE77BDDA}"/>
              </a:ext>
            </a:extLst>
          </p:cNvPr>
          <p:cNvSpPr>
            <a:spLocks noGrp="1"/>
          </p:cNvSpPr>
          <p:nvPr/>
        </p:nvSpPr>
        <p:spPr>
          <a:xfrm>
            <a:off x="7448550" y="4629150"/>
            <a:ext cx="3009900" cy="7620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Early cancellation prediction supports better pricing, staffing, inventory planning, and customer follow-up.</a:t>
            </a:r>
          </a:p>
        </p:txBody>
      </p:sp>
      <p:sp>
        <p:nvSpPr>
          <p:cNvPr id="10" name="Rectangle 9">
            <a:extLst>
              <a:ext uri="{FF2B5EF4-FFF2-40B4-BE49-F238E27FC236}">
                <a16:creationId xmlns:a16="http://schemas.microsoft.com/office/drawing/2014/main" id="{42CC1AA0-A8E5-4E2E-B2F1-377C6C65B289}"/>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1" name="Rectangle 10">
            <a:extLst>
              <a:ext uri="{FF2B5EF4-FFF2-40B4-BE49-F238E27FC236}">
                <a16:creationId xmlns:a16="http://schemas.microsoft.com/office/drawing/2014/main" id="{1336E5FC-F9F1-472E-94CC-8F5BA3A02537}"/>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02</a:t>
            </a:r>
          </a:p>
        </p:txBody>
      </p:sp>
    </p:spTree>
    <p:extLst>
      <p:ext uri="{BB962C8B-B14F-4D97-AF65-F5344CB8AC3E}">
        <p14:creationId xmlns:p14="http://schemas.microsoft.com/office/powerpoint/2010/main" val="14207112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7EC30913-4964-409C-9963-693DE296364D}"/>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Project Objectives</a:t>
            </a:r>
          </a:p>
        </p:txBody>
      </p:sp>
      <p:sp>
        <p:nvSpPr>
          <p:cNvPr id="2" name="Rectangle 1">
            <a:extLst>
              <a:ext uri="{FF2B5EF4-FFF2-40B4-BE49-F238E27FC236}">
                <a16:creationId xmlns:a16="http://schemas.microsoft.com/office/drawing/2014/main" id="{DF6DEF51-FD58-47E4-9305-399F956C4F93}"/>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Rounded Corners 2">
            <a:extLst>
              <a:ext uri="{FF2B5EF4-FFF2-40B4-BE49-F238E27FC236}">
                <a16:creationId xmlns:a16="http://schemas.microsoft.com/office/drawing/2014/main" id="{D717E94A-7FF1-4FED-8BDF-6F766FFA1161}"/>
              </a:ext>
            </a:extLst>
          </p:cNvPr>
          <p:cNvSpPr>
            <a:spLocks noGrp="1"/>
          </p:cNvSpPr>
          <p:nvPr/>
        </p:nvSpPr>
        <p:spPr>
          <a:xfrm>
            <a:off x="800100" y="1666875"/>
            <a:ext cx="2857500" cy="1428750"/>
          </a:xfrm>
          <a:prstGeom prst="roundRect">
            <a:avLst>
              <a:gd name="adj" fmla="val 6667"/>
            </a:avLst>
          </a:prstGeom>
          <a:solidFill>
            <a:srgbClr val="F3F4F6"/>
          </a:solidFill>
          <a:ln w="9525">
            <a:solidFill>
              <a:srgbClr val="E5E7EB"/>
            </a:solidFill>
            <a:prstDash val="solid"/>
          </a:ln>
        </p:spPr>
        <p:txBody>
          <a:bodyPr/>
          <a:lstStyle/>
          <a:p>
            <a:endParaRPr lang="en-US"/>
          </a:p>
        </p:txBody>
      </p:sp>
      <p:sp>
        <p:nvSpPr>
          <p:cNvPr id="4" name="Rectangle 3">
            <a:extLst>
              <a:ext uri="{FF2B5EF4-FFF2-40B4-BE49-F238E27FC236}">
                <a16:creationId xmlns:a16="http://schemas.microsoft.com/office/drawing/2014/main" id="{C5730A15-4B0E-4C2A-9236-1C9041FF4362}"/>
              </a:ext>
            </a:extLst>
          </p:cNvPr>
          <p:cNvSpPr>
            <a:spLocks noGrp="1"/>
          </p:cNvSpPr>
          <p:nvPr/>
        </p:nvSpPr>
        <p:spPr>
          <a:xfrm>
            <a:off x="1009650" y="1838325"/>
            <a:ext cx="2438400"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Explore</a:t>
            </a:r>
          </a:p>
        </p:txBody>
      </p:sp>
      <p:sp>
        <p:nvSpPr>
          <p:cNvPr id="5" name="Rectangle 4">
            <a:extLst>
              <a:ext uri="{FF2B5EF4-FFF2-40B4-BE49-F238E27FC236}">
                <a16:creationId xmlns:a16="http://schemas.microsoft.com/office/drawing/2014/main" id="{5C8339B5-EDDA-4DDC-8A65-1DB5030F84C1}"/>
              </a:ext>
            </a:extLst>
          </p:cNvPr>
          <p:cNvSpPr>
            <a:spLocks noGrp="1"/>
          </p:cNvSpPr>
          <p:nvPr/>
        </p:nvSpPr>
        <p:spPr>
          <a:xfrm>
            <a:off x="1009650" y="2200275"/>
            <a:ext cx="2438400" cy="7620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Analyze hotel booking data and understand customer behaviour.</a:t>
            </a:r>
          </a:p>
        </p:txBody>
      </p:sp>
      <p:sp>
        <p:nvSpPr>
          <p:cNvPr id="6" name="Rectangle: Rounded Corners 5">
            <a:extLst>
              <a:ext uri="{FF2B5EF4-FFF2-40B4-BE49-F238E27FC236}">
                <a16:creationId xmlns:a16="http://schemas.microsoft.com/office/drawing/2014/main" id="{49546862-199F-47EE-AF26-090F56341ECA}"/>
              </a:ext>
            </a:extLst>
          </p:cNvPr>
          <p:cNvSpPr>
            <a:spLocks noGrp="1"/>
          </p:cNvSpPr>
          <p:nvPr/>
        </p:nvSpPr>
        <p:spPr>
          <a:xfrm>
            <a:off x="4276725" y="1666875"/>
            <a:ext cx="2857500" cy="1428750"/>
          </a:xfrm>
          <a:prstGeom prst="roundRect">
            <a:avLst>
              <a:gd name="adj" fmla="val 6667"/>
            </a:avLst>
          </a:prstGeom>
          <a:solidFill>
            <a:srgbClr val="F3F4F6"/>
          </a:solidFill>
          <a:ln w="9525">
            <a:solidFill>
              <a:srgbClr val="E5E7EB"/>
            </a:solidFill>
            <a:prstDash val="solid"/>
          </a:ln>
        </p:spPr>
        <p:txBody>
          <a:bodyPr/>
          <a:lstStyle/>
          <a:p>
            <a:endParaRPr lang="en-US"/>
          </a:p>
        </p:txBody>
      </p:sp>
      <p:sp>
        <p:nvSpPr>
          <p:cNvPr id="7" name="Rectangle 6">
            <a:extLst>
              <a:ext uri="{FF2B5EF4-FFF2-40B4-BE49-F238E27FC236}">
                <a16:creationId xmlns:a16="http://schemas.microsoft.com/office/drawing/2014/main" id="{1BC201A6-5C6F-4177-BBB5-82F2EE970954}"/>
              </a:ext>
            </a:extLst>
          </p:cNvPr>
          <p:cNvSpPr>
            <a:spLocks noGrp="1"/>
          </p:cNvSpPr>
          <p:nvPr/>
        </p:nvSpPr>
        <p:spPr>
          <a:xfrm>
            <a:off x="4486275" y="1838325"/>
            <a:ext cx="2438400"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Identify</a:t>
            </a:r>
          </a:p>
        </p:txBody>
      </p:sp>
      <p:sp>
        <p:nvSpPr>
          <p:cNvPr id="8" name="Rectangle 7">
            <a:extLst>
              <a:ext uri="{FF2B5EF4-FFF2-40B4-BE49-F238E27FC236}">
                <a16:creationId xmlns:a16="http://schemas.microsoft.com/office/drawing/2014/main" id="{32CAFD5E-55B4-4781-87D7-CE283A2354B4}"/>
              </a:ext>
            </a:extLst>
          </p:cNvPr>
          <p:cNvSpPr>
            <a:spLocks noGrp="1"/>
          </p:cNvSpPr>
          <p:nvPr/>
        </p:nvSpPr>
        <p:spPr>
          <a:xfrm>
            <a:off x="4486275" y="2200275"/>
            <a:ext cx="2438400" cy="7620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Find the key factors influencing booking cancellations.</a:t>
            </a:r>
          </a:p>
        </p:txBody>
      </p:sp>
      <p:sp>
        <p:nvSpPr>
          <p:cNvPr id="9" name="Rectangle: Rounded Corners 8">
            <a:extLst>
              <a:ext uri="{FF2B5EF4-FFF2-40B4-BE49-F238E27FC236}">
                <a16:creationId xmlns:a16="http://schemas.microsoft.com/office/drawing/2014/main" id="{D67FCD2E-D9AB-4346-8522-28326B3E481F}"/>
              </a:ext>
            </a:extLst>
          </p:cNvPr>
          <p:cNvSpPr>
            <a:spLocks noGrp="1"/>
          </p:cNvSpPr>
          <p:nvPr/>
        </p:nvSpPr>
        <p:spPr>
          <a:xfrm>
            <a:off x="7753350" y="1666875"/>
            <a:ext cx="2857500" cy="1428750"/>
          </a:xfrm>
          <a:prstGeom prst="roundRect">
            <a:avLst>
              <a:gd name="adj" fmla="val 6667"/>
            </a:avLst>
          </a:prstGeom>
          <a:solidFill>
            <a:srgbClr val="F3F4F6"/>
          </a:solidFill>
          <a:ln w="9525">
            <a:solidFill>
              <a:srgbClr val="E5E7EB"/>
            </a:solidFill>
            <a:prstDash val="solid"/>
          </a:ln>
        </p:spPr>
        <p:txBody>
          <a:bodyPr/>
          <a:lstStyle/>
          <a:p>
            <a:endParaRPr lang="en-US"/>
          </a:p>
        </p:txBody>
      </p:sp>
      <p:sp>
        <p:nvSpPr>
          <p:cNvPr id="10" name="Rectangle 9">
            <a:extLst>
              <a:ext uri="{FF2B5EF4-FFF2-40B4-BE49-F238E27FC236}">
                <a16:creationId xmlns:a16="http://schemas.microsoft.com/office/drawing/2014/main" id="{449D03B6-7ECB-4138-BF29-B159ACC95D1F}"/>
              </a:ext>
            </a:extLst>
          </p:cNvPr>
          <p:cNvSpPr>
            <a:spLocks noGrp="1"/>
          </p:cNvSpPr>
          <p:nvPr/>
        </p:nvSpPr>
        <p:spPr>
          <a:xfrm>
            <a:off x="7962900" y="1838325"/>
            <a:ext cx="2438400"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Prepare</a:t>
            </a:r>
          </a:p>
        </p:txBody>
      </p:sp>
      <p:sp>
        <p:nvSpPr>
          <p:cNvPr id="11" name="Rectangle 10">
            <a:extLst>
              <a:ext uri="{FF2B5EF4-FFF2-40B4-BE49-F238E27FC236}">
                <a16:creationId xmlns:a16="http://schemas.microsoft.com/office/drawing/2014/main" id="{C0AA0D01-1EB6-4E34-A763-007EEF300D64}"/>
              </a:ext>
            </a:extLst>
          </p:cNvPr>
          <p:cNvSpPr>
            <a:spLocks noGrp="1"/>
          </p:cNvSpPr>
          <p:nvPr/>
        </p:nvSpPr>
        <p:spPr>
          <a:xfrm>
            <a:off x="7962900" y="2200275"/>
            <a:ext cx="2438400" cy="7620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Clean, transform, engineer, encode, and scale useful features.</a:t>
            </a:r>
          </a:p>
        </p:txBody>
      </p:sp>
      <p:sp>
        <p:nvSpPr>
          <p:cNvPr id="12" name="Rectangle: Rounded Corners 11">
            <a:extLst>
              <a:ext uri="{FF2B5EF4-FFF2-40B4-BE49-F238E27FC236}">
                <a16:creationId xmlns:a16="http://schemas.microsoft.com/office/drawing/2014/main" id="{AC53B4CC-2C7F-4F67-87AD-F3A8A352350E}"/>
              </a:ext>
            </a:extLst>
          </p:cNvPr>
          <p:cNvSpPr>
            <a:spLocks noGrp="1"/>
          </p:cNvSpPr>
          <p:nvPr/>
        </p:nvSpPr>
        <p:spPr>
          <a:xfrm>
            <a:off x="2533650" y="3952875"/>
            <a:ext cx="2857500" cy="1428750"/>
          </a:xfrm>
          <a:prstGeom prst="roundRect">
            <a:avLst>
              <a:gd name="adj" fmla="val 6667"/>
            </a:avLst>
          </a:prstGeom>
          <a:solidFill>
            <a:srgbClr val="F59E0B"/>
          </a:solidFill>
          <a:ln w="9525">
            <a:solidFill>
              <a:srgbClr val="E5E7EB"/>
            </a:solidFill>
            <a:prstDash val="solid"/>
          </a:ln>
        </p:spPr>
        <p:txBody>
          <a:bodyPr/>
          <a:lstStyle/>
          <a:p>
            <a:endParaRPr lang="en-US"/>
          </a:p>
        </p:txBody>
      </p:sp>
      <p:sp>
        <p:nvSpPr>
          <p:cNvPr id="13" name="Rectangle 12">
            <a:extLst>
              <a:ext uri="{FF2B5EF4-FFF2-40B4-BE49-F238E27FC236}">
                <a16:creationId xmlns:a16="http://schemas.microsoft.com/office/drawing/2014/main" id="{EB876C66-C89D-45B1-891A-F595EFDB61AE}"/>
              </a:ext>
            </a:extLst>
          </p:cNvPr>
          <p:cNvSpPr>
            <a:spLocks noGrp="1"/>
          </p:cNvSpPr>
          <p:nvPr/>
        </p:nvSpPr>
        <p:spPr>
          <a:xfrm>
            <a:off x="2743200" y="4124325"/>
            <a:ext cx="2438400" cy="266700"/>
          </a:xfrm>
          <a:prstGeom prst="rect">
            <a:avLst/>
          </a:prstGeom>
          <a:noFill/>
          <a:ln w="0">
            <a:noFill/>
            <a:prstDash val="solid"/>
          </a:ln>
        </p:spPr>
        <p:txBody>
          <a:bodyPr lIns="0" tIns="0" rIns="0" bIns="0" anchor="t"/>
          <a:lstStyle/>
          <a:p>
            <a:pPr algn="l">
              <a:lnSpc>
                <a:spcPct val="11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Predict</a:t>
            </a:r>
          </a:p>
        </p:txBody>
      </p:sp>
      <p:sp>
        <p:nvSpPr>
          <p:cNvPr id="14" name="Rectangle 13">
            <a:extLst>
              <a:ext uri="{FF2B5EF4-FFF2-40B4-BE49-F238E27FC236}">
                <a16:creationId xmlns:a16="http://schemas.microsoft.com/office/drawing/2014/main" id="{9D877732-B60D-4A0E-9CFF-00EF609D2BA2}"/>
              </a:ext>
            </a:extLst>
          </p:cNvPr>
          <p:cNvSpPr>
            <a:spLocks noGrp="1"/>
          </p:cNvSpPr>
          <p:nvPr/>
        </p:nvSpPr>
        <p:spPr>
          <a:xfrm>
            <a:off x="2743200" y="4486275"/>
            <a:ext cx="2438400" cy="762000"/>
          </a:xfrm>
          <a:prstGeom prst="rect">
            <a:avLst/>
          </a:prstGeom>
          <a:noFill/>
          <a:ln w="0">
            <a:noFill/>
            <a:prstDash val="solid"/>
          </a:ln>
        </p:spPr>
        <p:txBody>
          <a:bodyPr lIns="0" tIns="0" rIns="0" bIns="0" anchor="t"/>
          <a:lstStyle/>
          <a:p>
            <a:pPr algn="l">
              <a:lnSpc>
                <a:spcPct val="115000"/>
              </a:lnSpc>
              <a:buNone/>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Build classification models to predict booking status.</a:t>
            </a:r>
          </a:p>
        </p:txBody>
      </p:sp>
      <p:sp>
        <p:nvSpPr>
          <p:cNvPr id="15" name="Rectangle: Rounded Corners 14">
            <a:extLst>
              <a:ext uri="{FF2B5EF4-FFF2-40B4-BE49-F238E27FC236}">
                <a16:creationId xmlns:a16="http://schemas.microsoft.com/office/drawing/2014/main" id="{3681CDA6-3C2F-4109-BA27-200EE80EB945}"/>
              </a:ext>
            </a:extLst>
          </p:cNvPr>
          <p:cNvSpPr>
            <a:spLocks noGrp="1"/>
          </p:cNvSpPr>
          <p:nvPr/>
        </p:nvSpPr>
        <p:spPr>
          <a:xfrm>
            <a:off x="6010275" y="3952875"/>
            <a:ext cx="2857500" cy="1428750"/>
          </a:xfrm>
          <a:prstGeom prst="roundRect">
            <a:avLst>
              <a:gd name="adj" fmla="val 6667"/>
            </a:avLst>
          </a:prstGeom>
          <a:solidFill>
            <a:srgbClr val="F3F4F6"/>
          </a:solidFill>
          <a:ln w="9525">
            <a:solidFill>
              <a:srgbClr val="E5E7EB"/>
            </a:solidFill>
            <a:prstDash val="solid"/>
          </a:ln>
        </p:spPr>
        <p:txBody>
          <a:bodyPr/>
          <a:lstStyle/>
          <a:p>
            <a:endParaRPr lang="en-US"/>
          </a:p>
        </p:txBody>
      </p:sp>
      <p:sp>
        <p:nvSpPr>
          <p:cNvPr id="16" name="Rectangle 15">
            <a:extLst>
              <a:ext uri="{FF2B5EF4-FFF2-40B4-BE49-F238E27FC236}">
                <a16:creationId xmlns:a16="http://schemas.microsoft.com/office/drawing/2014/main" id="{E22FEB4A-5395-4F90-B266-30CC8CC40AC1}"/>
              </a:ext>
            </a:extLst>
          </p:cNvPr>
          <p:cNvSpPr>
            <a:spLocks noGrp="1"/>
          </p:cNvSpPr>
          <p:nvPr/>
        </p:nvSpPr>
        <p:spPr>
          <a:xfrm>
            <a:off x="6219825" y="4124325"/>
            <a:ext cx="2438400"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Recommend</a:t>
            </a:r>
          </a:p>
        </p:txBody>
      </p:sp>
      <p:sp>
        <p:nvSpPr>
          <p:cNvPr id="17" name="Rectangle 16">
            <a:extLst>
              <a:ext uri="{FF2B5EF4-FFF2-40B4-BE49-F238E27FC236}">
                <a16:creationId xmlns:a16="http://schemas.microsoft.com/office/drawing/2014/main" id="{8E6BFF18-ED19-451F-BD4E-6895E09A752B}"/>
              </a:ext>
            </a:extLst>
          </p:cNvPr>
          <p:cNvSpPr>
            <a:spLocks noGrp="1"/>
          </p:cNvSpPr>
          <p:nvPr/>
        </p:nvSpPr>
        <p:spPr>
          <a:xfrm>
            <a:off x="6219825" y="4486275"/>
            <a:ext cx="2438400" cy="7620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Turn the analysis into actions that reduce cancellations and protect revenue.</a:t>
            </a:r>
          </a:p>
        </p:txBody>
      </p:sp>
      <p:sp>
        <p:nvSpPr>
          <p:cNvPr id="18" name="Rectangle 17">
            <a:extLst>
              <a:ext uri="{FF2B5EF4-FFF2-40B4-BE49-F238E27FC236}">
                <a16:creationId xmlns:a16="http://schemas.microsoft.com/office/drawing/2014/main" id="{C6B5317B-CAC9-4E10-B92E-EA8EDD0BE2F8}"/>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9" name="Rectangle 18">
            <a:extLst>
              <a:ext uri="{FF2B5EF4-FFF2-40B4-BE49-F238E27FC236}">
                <a16:creationId xmlns:a16="http://schemas.microsoft.com/office/drawing/2014/main" id="{EC12F502-F9A6-4C74-B894-3F45A0FF5515}"/>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03</a:t>
            </a:r>
          </a:p>
        </p:txBody>
      </p:sp>
    </p:spTree>
    <p:extLst>
      <p:ext uri="{BB962C8B-B14F-4D97-AF65-F5344CB8AC3E}">
        <p14:creationId xmlns:p14="http://schemas.microsoft.com/office/powerpoint/2010/main" val="2863694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8B7876EF-6404-4FB6-9B5C-B1FD011C959D}"/>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Dataset Overview</a:t>
            </a:r>
          </a:p>
        </p:txBody>
      </p:sp>
      <p:sp>
        <p:nvSpPr>
          <p:cNvPr id="2" name="Rectangle 1">
            <a:extLst>
              <a:ext uri="{FF2B5EF4-FFF2-40B4-BE49-F238E27FC236}">
                <a16:creationId xmlns:a16="http://schemas.microsoft.com/office/drawing/2014/main" id="{FA4C437B-1256-4FA8-81FE-3790F18E72A2}"/>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Rounded Corners 2">
            <a:extLst>
              <a:ext uri="{FF2B5EF4-FFF2-40B4-BE49-F238E27FC236}">
                <a16:creationId xmlns:a16="http://schemas.microsoft.com/office/drawing/2014/main" id="{06333C4B-51E8-4EB0-8AB6-65E9216C9365}"/>
              </a:ext>
            </a:extLst>
          </p:cNvPr>
          <p:cNvSpPr>
            <a:spLocks noGrp="1"/>
          </p:cNvSpPr>
          <p:nvPr/>
        </p:nvSpPr>
        <p:spPr>
          <a:xfrm>
            <a:off x="800100" y="1619250"/>
            <a:ext cx="2095500" cy="1238250"/>
          </a:xfrm>
          <a:prstGeom prst="roundRect">
            <a:avLst>
              <a:gd name="adj" fmla="val 6154"/>
            </a:avLst>
          </a:prstGeom>
          <a:solidFill>
            <a:srgbClr val="F3F4F6"/>
          </a:solidFill>
          <a:ln w="9525">
            <a:solidFill>
              <a:srgbClr val="E5E7EB"/>
            </a:solidFill>
            <a:prstDash val="solid"/>
          </a:ln>
        </p:spPr>
        <p:txBody>
          <a:bodyPr/>
          <a:lstStyle/>
          <a:p>
            <a:endParaRPr lang="en-US"/>
          </a:p>
        </p:txBody>
      </p:sp>
      <p:sp>
        <p:nvSpPr>
          <p:cNvPr id="4" name="Rectangle 3">
            <a:extLst>
              <a:ext uri="{FF2B5EF4-FFF2-40B4-BE49-F238E27FC236}">
                <a16:creationId xmlns:a16="http://schemas.microsoft.com/office/drawing/2014/main" id="{3BBA9A16-DE0A-4BB5-9161-A596F2AEDC0C}"/>
              </a:ext>
            </a:extLst>
          </p:cNvPr>
          <p:cNvSpPr>
            <a:spLocks noGrp="1"/>
          </p:cNvSpPr>
          <p:nvPr/>
        </p:nvSpPr>
        <p:spPr>
          <a:xfrm>
            <a:off x="971550" y="1771650"/>
            <a:ext cx="1752600" cy="457200"/>
          </a:xfrm>
          <a:prstGeom prst="rect">
            <a:avLst/>
          </a:prstGeom>
          <a:noFill/>
          <a:ln w="0">
            <a:noFill/>
            <a:prstDash val="solid"/>
          </a:ln>
        </p:spPr>
        <p:txBody>
          <a:bodyPr lIns="0" tIns="0" rIns="0" bIns="0" anchor="t"/>
          <a:lstStyle/>
          <a:p>
            <a:pPr algn="ctr">
              <a:lnSpc>
                <a:spcPct val="115000"/>
              </a:lnSpc>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36,285</a:t>
            </a:r>
          </a:p>
        </p:txBody>
      </p:sp>
      <p:sp>
        <p:nvSpPr>
          <p:cNvPr id="5" name="Rectangle 4">
            <a:extLst>
              <a:ext uri="{FF2B5EF4-FFF2-40B4-BE49-F238E27FC236}">
                <a16:creationId xmlns:a16="http://schemas.microsoft.com/office/drawing/2014/main" id="{AA88D0DC-CE55-4B19-B1F8-00ED01982EC1}"/>
              </a:ext>
            </a:extLst>
          </p:cNvPr>
          <p:cNvSpPr>
            <a:spLocks noGrp="1"/>
          </p:cNvSpPr>
          <p:nvPr/>
        </p:nvSpPr>
        <p:spPr>
          <a:xfrm>
            <a:off x="952500" y="2305050"/>
            <a:ext cx="1790700" cy="457200"/>
          </a:xfrm>
          <a:prstGeom prst="rect">
            <a:avLst/>
          </a:prstGeom>
          <a:noFill/>
          <a:ln w="0">
            <a:noFill/>
            <a:prstDash val="solid"/>
          </a:ln>
        </p:spPr>
        <p:txBody>
          <a:bodyPr lIns="0" tIns="0" rIns="0" bIns="0" anchor="t"/>
          <a:lstStyle/>
          <a:p>
            <a:pPr algn="ctr">
              <a:lnSpc>
                <a:spcPct val="11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booking records</a:t>
            </a:r>
          </a:p>
        </p:txBody>
      </p:sp>
      <p:sp>
        <p:nvSpPr>
          <p:cNvPr id="6" name="Rectangle: Rounded Corners 5">
            <a:extLst>
              <a:ext uri="{FF2B5EF4-FFF2-40B4-BE49-F238E27FC236}">
                <a16:creationId xmlns:a16="http://schemas.microsoft.com/office/drawing/2014/main" id="{44C06C2A-80B3-40BE-86B7-7397267ADB0E}"/>
              </a:ext>
            </a:extLst>
          </p:cNvPr>
          <p:cNvSpPr>
            <a:spLocks noGrp="1"/>
          </p:cNvSpPr>
          <p:nvPr/>
        </p:nvSpPr>
        <p:spPr>
          <a:xfrm>
            <a:off x="3143250" y="1619250"/>
            <a:ext cx="2095500" cy="1238250"/>
          </a:xfrm>
          <a:prstGeom prst="roundRect">
            <a:avLst>
              <a:gd name="adj" fmla="val 6154"/>
            </a:avLst>
          </a:prstGeom>
          <a:solidFill>
            <a:srgbClr val="F3F4F6"/>
          </a:solidFill>
          <a:ln w="9525">
            <a:solidFill>
              <a:srgbClr val="E5E7EB"/>
            </a:solidFill>
            <a:prstDash val="solid"/>
          </a:ln>
        </p:spPr>
        <p:txBody>
          <a:bodyPr/>
          <a:lstStyle/>
          <a:p>
            <a:endParaRPr lang="en-US"/>
          </a:p>
        </p:txBody>
      </p:sp>
      <p:sp>
        <p:nvSpPr>
          <p:cNvPr id="7" name="Rectangle 6">
            <a:extLst>
              <a:ext uri="{FF2B5EF4-FFF2-40B4-BE49-F238E27FC236}">
                <a16:creationId xmlns:a16="http://schemas.microsoft.com/office/drawing/2014/main" id="{A1E49DF9-D3D6-4573-BB68-088AFC008C7B}"/>
              </a:ext>
            </a:extLst>
          </p:cNvPr>
          <p:cNvSpPr>
            <a:spLocks noGrp="1"/>
          </p:cNvSpPr>
          <p:nvPr/>
        </p:nvSpPr>
        <p:spPr>
          <a:xfrm>
            <a:off x="3314700" y="1771650"/>
            <a:ext cx="1752600" cy="457200"/>
          </a:xfrm>
          <a:prstGeom prst="rect">
            <a:avLst/>
          </a:prstGeom>
          <a:noFill/>
          <a:ln w="0">
            <a:noFill/>
            <a:prstDash val="solid"/>
          </a:ln>
        </p:spPr>
        <p:txBody>
          <a:bodyPr lIns="0" tIns="0" rIns="0" bIns="0" anchor="t"/>
          <a:lstStyle/>
          <a:p>
            <a:pPr algn="ctr">
              <a:lnSpc>
                <a:spcPct val="115000"/>
              </a:lnSpc>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17</a:t>
            </a:r>
          </a:p>
        </p:txBody>
      </p:sp>
      <p:sp>
        <p:nvSpPr>
          <p:cNvPr id="8" name="Rectangle 7">
            <a:extLst>
              <a:ext uri="{FF2B5EF4-FFF2-40B4-BE49-F238E27FC236}">
                <a16:creationId xmlns:a16="http://schemas.microsoft.com/office/drawing/2014/main" id="{AA059173-B0AC-4209-A95E-0EE2F975061A}"/>
              </a:ext>
            </a:extLst>
          </p:cNvPr>
          <p:cNvSpPr>
            <a:spLocks noGrp="1"/>
          </p:cNvSpPr>
          <p:nvPr/>
        </p:nvSpPr>
        <p:spPr>
          <a:xfrm>
            <a:off x="3295650" y="2305050"/>
            <a:ext cx="1790700" cy="457200"/>
          </a:xfrm>
          <a:prstGeom prst="rect">
            <a:avLst/>
          </a:prstGeom>
          <a:noFill/>
          <a:ln w="0">
            <a:noFill/>
            <a:prstDash val="solid"/>
          </a:ln>
        </p:spPr>
        <p:txBody>
          <a:bodyPr lIns="0" tIns="0" rIns="0" bIns="0" anchor="t"/>
          <a:lstStyle/>
          <a:p>
            <a:pPr algn="ctr">
              <a:lnSpc>
                <a:spcPct val="11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original variables</a:t>
            </a:r>
          </a:p>
        </p:txBody>
      </p:sp>
      <p:sp>
        <p:nvSpPr>
          <p:cNvPr id="9" name="Rectangle: Rounded Corners 8">
            <a:extLst>
              <a:ext uri="{FF2B5EF4-FFF2-40B4-BE49-F238E27FC236}">
                <a16:creationId xmlns:a16="http://schemas.microsoft.com/office/drawing/2014/main" id="{6DAAB211-D771-4986-B1EA-594228164DD8}"/>
              </a:ext>
            </a:extLst>
          </p:cNvPr>
          <p:cNvSpPr>
            <a:spLocks noGrp="1"/>
          </p:cNvSpPr>
          <p:nvPr/>
        </p:nvSpPr>
        <p:spPr>
          <a:xfrm>
            <a:off x="5486400" y="1619250"/>
            <a:ext cx="2095500" cy="1238250"/>
          </a:xfrm>
          <a:prstGeom prst="roundRect">
            <a:avLst>
              <a:gd name="adj" fmla="val 6154"/>
            </a:avLst>
          </a:prstGeom>
          <a:solidFill>
            <a:srgbClr val="F3F4F6"/>
          </a:solidFill>
          <a:ln w="9525">
            <a:solidFill>
              <a:srgbClr val="E5E7EB"/>
            </a:solidFill>
            <a:prstDash val="solid"/>
          </a:ln>
        </p:spPr>
        <p:txBody>
          <a:bodyPr/>
          <a:lstStyle/>
          <a:p>
            <a:endParaRPr lang="en-US"/>
          </a:p>
        </p:txBody>
      </p:sp>
      <p:sp>
        <p:nvSpPr>
          <p:cNvPr id="10" name="Rectangle 9">
            <a:extLst>
              <a:ext uri="{FF2B5EF4-FFF2-40B4-BE49-F238E27FC236}">
                <a16:creationId xmlns:a16="http://schemas.microsoft.com/office/drawing/2014/main" id="{2BC1AD38-A849-4BD8-BAFD-78E74C563E28}"/>
              </a:ext>
            </a:extLst>
          </p:cNvPr>
          <p:cNvSpPr>
            <a:spLocks noGrp="1"/>
          </p:cNvSpPr>
          <p:nvPr/>
        </p:nvSpPr>
        <p:spPr>
          <a:xfrm>
            <a:off x="5657850" y="1771650"/>
            <a:ext cx="1752600" cy="457200"/>
          </a:xfrm>
          <a:prstGeom prst="rect">
            <a:avLst/>
          </a:prstGeom>
          <a:noFill/>
          <a:ln w="0">
            <a:noFill/>
            <a:prstDash val="solid"/>
          </a:ln>
        </p:spPr>
        <p:txBody>
          <a:bodyPr lIns="0" tIns="0" rIns="0" bIns="0" anchor="t"/>
          <a:lstStyle/>
          <a:p>
            <a:pPr algn="ctr">
              <a:lnSpc>
                <a:spcPct val="115000"/>
              </a:lnSpc>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1</a:t>
            </a:r>
          </a:p>
        </p:txBody>
      </p:sp>
      <p:sp>
        <p:nvSpPr>
          <p:cNvPr id="11" name="Rectangle 10">
            <a:extLst>
              <a:ext uri="{FF2B5EF4-FFF2-40B4-BE49-F238E27FC236}">
                <a16:creationId xmlns:a16="http://schemas.microsoft.com/office/drawing/2014/main" id="{19AE4067-BE6F-456E-A16E-E4FC9F852CC9}"/>
              </a:ext>
            </a:extLst>
          </p:cNvPr>
          <p:cNvSpPr>
            <a:spLocks noGrp="1"/>
          </p:cNvSpPr>
          <p:nvPr/>
        </p:nvSpPr>
        <p:spPr>
          <a:xfrm>
            <a:off x="5638800" y="2305050"/>
            <a:ext cx="1790700" cy="457200"/>
          </a:xfrm>
          <a:prstGeom prst="rect">
            <a:avLst/>
          </a:prstGeom>
          <a:noFill/>
          <a:ln w="0">
            <a:noFill/>
            <a:prstDash val="solid"/>
          </a:ln>
        </p:spPr>
        <p:txBody>
          <a:bodyPr lIns="0" tIns="0" rIns="0" bIns="0" anchor="t"/>
          <a:lstStyle/>
          <a:p>
            <a:pPr algn="ctr">
              <a:lnSpc>
                <a:spcPct val="11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target variable</a:t>
            </a:r>
          </a:p>
        </p:txBody>
      </p:sp>
      <p:sp>
        <p:nvSpPr>
          <p:cNvPr id="12" name="Rectangle 11">
            <a:extLst>
              <a:ext uri="{FF2B5EF4-FFF2-40B4-BE49-F238E27FC236}">
                <a16:creationId xmlns:a16="http://schemas.microsoft.com/office/drawing/2014/main" id="{93241611-81C4-4936-9F3B-3E940DA9A669}"/>
              </a:ext>
            </a:extLst>
          </p:cNvPr>
          <p:cNvSpPr>
            <a:spLocks noGrp="1"/>
          </p:cNvSpPr>
          <p:nvPr/>
        </p:nvSpPr>
        <p:spPr>
          <a:xfrm>
            <a:off x="8096250" y="1828800"/>
            <a:ext cx="3429000" cy="361950"/>
          </a:xfrm>
          <a:prstGeom prst="rect">
            <a:avLst/>
          </a:prstGeom>
          <a:noFill/>
          <a:ln w="0">
            <a:noFill/>
            <a:prstDash val="solid"/>
          </a:ln>
        </p:spPr>
        <p:txBody>
          <a:bodyPr lIns="0" tIns="0" rIns="0" bIns="0" anchor="t"/>
          <a:lstStyle/>
          <a:p>
            <a:pPr algn="l">
              <a:lnSpc>
                <a:spcPct val="115000"/>
              </a:lnSpc>
              <a:buNone/>
              <a:defRPr sz="1800" b="1">
                <a:solidFill>
                  <a:srgbClr val="111827"/>
                </a:solidFill>
                <a:latin typeface="Helvetica Neue"/>
                <a:ea typeface="Helvetica Neue"/>
                <a:cs typeface="Helvetica Neue"/>
              </a:defRPr>
            </a:pPr>
            <a:r>
              <a:rPr sz="1800" b="1" dirty="0">
                <a:solidFill>
                  <a:srgbClr val="111827"/>
                </a:solidFill>
                <a:latin typeface="Helvetica Neue"/>
                <a:ea typeface="Helvetica Neue"/>
                <a:cs typeface="Helvetica Neue"/>
              </a:rPr>
              <a:t>Target variable: booking status</a:t>
            </a:r>
          </a:p>
        </p:txBody>
      </p:sp>
      <p:sp>
        <p:nvSpPr>
          <p:cNvPr id="13" name="Rectangle 12">
            <a:extLst>
              <a:ext uri="{FF2B5EF4-FFF2-40B4-BE49-F238E27FC236}">
                <a16:creationId xmlns:a16="http://schemas.microsoft.com/office/drawing/2014/main" id="{14A18BBF-EB13-45EA-ABB9-263062C96273}"/>
              </a:ext>
            </a:extLst>
          </p:cNvPr>
          <p:cNvSpPr>
            <a:spLocks noGrp="1"/>
          </p:cNvSpPr>
          <p:nvPr/>
        </p:nvSpPr>
        <p:spPr>
          <a:xfrm>
            <a:off x="8096250" y="2343150"/>
            <a:ext cx="3143250" cy="51435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dirty="0">
                <a:solidFill>
                  <a:srgbClr val="4B5563"/>
                </a:solidFill>
                <a:latin typeface="Helvetica Neue"/>
                <a:ea typeface="Helvetica Neue"/>
                <a:cs typeface="Helvetica Neue"/>
              </a:rPr>
              <a:t>Shows whether a booking was cancelled or not cancelled.</a:t>
            </a:r>
          </a:p>
        </p:txBody>
      </p:sp>
      <p:sp>
        <p:nvSpPr>
          <p:cNvPr id="14" name="Rectangle 13">
            <a:extLst>
              <a:ext uri="{FF2B5EF4-FFF2-40B4-BE49-F238E27FC236}">
                <a16:creationId xmlns:a16="http://schemas.microsoft.com/office/drawing/2014/main" id="{FEE47588-32D1-4247-A545-230B5DE8F647}"/>
              </a:ext>
            </a:extLst>
          </p:cNvPr>
          <p:cNvSpPr>
            <a:spLocks noGrp="1"/>
          </p:cNvSpPr>
          <p:nvPr/>
        </p:nvSpPr>
        <p:spPr>
          <a:xfrm>
            <a:off x="800100" y="3486150"/>
            <a:ext cx="4000500" cy="323850"/>
          </a:xfrm>
          <a:prstGeom prst="rect">
            <a:avLst/>
          </a:prstGeom>
          <a:noFill/>
          <a:ln w="0">
            <a:noFill/>
            <a:prstDash val="solid"/>
          </a:ln>
        </p:spPr>
        <p:txBody>
          <a:bodyPr lIns="0" tIns="0" rIns="0" bIns="0" anchor="t"/>
          <a:lstStyle/>
          <a:p>
            <a:pPr algn="l">
              <a:lnSpc>
                <a:spcPct val="115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Key variables in the dataset</a:t>
            </a:r>
          </a:p>
        </p:txBody>
      </p:sp>
      <p:sp>
        <p:nvSpPr>
          <p:cNvPr id="15" name="Rectangle 14">
            <a:extLst>
              <a:ext uri="{FF2B5EF4-FFF2-40B4-BE49-F238E27FC236}">
                <a16:creationId xmlns:a16="http://schemas.microsoft.com/office/drawing/2014/main" id="{730BD2A9-D9BC-4351-911D-045CB5BBD35F}"/>
              </a:ext>
            </a:extLst>
          </p:cNvPr>
          <p:cNvSpPr>
            <a:spLocks noGrp="1"/>
          </p:cNvSpPr>
          <p:nvPr/>
        </p:nvSpPr>
        <p:spPr>
          <a:xfrm>
            <a:off x="819150" y="4000500"/>
            <a:ext cx="7239000" cy="1619250"/>
          </a:xfrm>
          <a:prstGeom prst="rect">
            <a:avLst/>
          </a:prstGeom>
          <a:noFill/>
          <a:ln w="0">
            <a:noFill/>
            <a:prstDash val="solid"/>
          </a:ln>
        </p:spPr>
        <p:txBody>
          <a:bodyPr lIns="0" tIns="0" rIns="76200" bIns="0"/>
          <a:lstStyle/>
          <a:p>
            <a:pPr marL="24" indent="-14">
              <a:lnSpc>
                <a:spcPct val="112000"/>
              </a:lnSpc>
              <a:spcAft>
                <a:spcPts val="8"/>
              </a:spcAft>
              <a:buNone/>
              <a:defRPr sz="1650">
                <a:solidFill>
                  <a:srgbClr val="111827"/>
                </a:solidFill>
                <a:latin typeface="Helvetica Neue"/>
                <a:ea typeface="Helvetica Neue"/>
                <a:cs typeface="Helvetica Neue"/>
              </a:defRPr>
            </a:pPr>
            <a:r>
              <a:rPr sz="1650" dirty="0">
                <a:solidFill>
                  <a:srgbClr val="111827"/>
                </a:solidFill>
                <a:latin typeface="Helvetica Neue"/>
                <a:ea typeface="Helvetica Neue"/>
                <a:cs typeface="Helvetica Neue"/>
              </a:rPr>
              <a:t>Lead time, average price, and special requests</a:t>
            </a:r>
          </a:p>
          <a:p>
            <a:pPr marL="24" indent="-14">
              <a:lnSpc>
                <a:spcPct val="112000"/>
              </a:lnSpc>
              <a:spcAft>
                <a:spcPts val="8"/>
              </a:spcAft>
              <a:buNone/>
              <a:defRPr sz="1650">
                <a:solidFill>
                  <a:srgbClr val="111827"/>
                </a:solidFill>
                <a:latin typeface="Helvetica Neue"/>
                <a:ea typeface="Helvetica Neue"/>
                <a:cs typeface="Helvetica Neue"/>
              </a:defRPr>
            </a:pPr>
            <a:r>
              <a:rPr sz="1650" dirty="0">
                <a:solidFill>
                  <a:srgbClr val="111827"/>
                </a:solidFill>
                <a:latin typeface="Helvetica Neue"/>
                <a:ea typeface="Helvetica Neue"/>
                <a:cs typeface="Helvetica Neue"/>
              </a:rPr>
              <a:t>Room type, meal type, and market segment</a:t>
            </a:r>
          </a:p>
          <a:p>
            <a:pPr marL="24" indent="-14">
              <a:lnSpc>
                <a:spcPct val="112000"/>
              </a:lnSpc>
              <a:spcAft>
                <a:spcPts val="8"/>
              </a:spcAft>
              <a:buNone/>
              <a:defRPr sz="1650">
                <a:solidFill>
                  <a:srgbClr val="111827"/>
                </a:solidFill>
                <a:latin typeface="Helvetica Neue"/>
                <a:ea typeface="Helvetica Neue"/>
                <a:cs typeface="Helvetica Neue"/>
              </a:defRPr>
            </a:pPr>
            <a:r>
              <a:rPr sz="1650" dirty="0">
                <a:solidFill>
                  <a:srgbClr val="111827"/>
                </a:solidFill>
                <a:latin typeface="Helvetica Neue"/>
                <a:ea typeface="Helvetica Neue"/>
                <a:cs typeface="Helvetica Neue"/>
              </a:rPr>
              <a:t>Number of adults, children, weekend nights, and week nights</a:t>
            </a:r>
          </a:p>
          <a:p>
            <a:pPr marL="24" indent="-14">
              <a:lnSpc>
                <a:spcPct val="112000"/>
              </a:lnSpc>
              <a:spcAft>
                <a:spcPts val="8"/>
              </a:spcAft>
              <a:buNone/>
              <a:defRPr sz="1650">
                <a:solidFill>
                  <a:srgbClr val="111827"/>
                </a:solidFill>
                <a:latin typeface="Helvetica Neue"/>
                <a:ea typeface="Helvetica Neue"/>
                <a:cs typeface="Helvetica Neue"/>
              </a:defRPr>
            </a:pPr>
            <a:r>
              <a:rPr sz="1650" dirty="0">
                <a:solidFill>
                  <a:srgbClr val="111827"/>
                </a:solidFill>
                <a:latin typeface="Helvetica Neue"/>
                <a:ea typeface="Helvetica Neue"/>
                <a:cs typeface="Helvetica Neue"/>
              </a:rPr>
              <a:t>Date of reservation and previous booking history</a:t>
            </a:r>
          </a:p>
        </p:txBody>
      </p:sp>
      <p:sp>
        <p:nvSpPr>
          <p:cNvPr id="16" name="Rectangle 15">
            <a:extLst>
              <a:ext uri="{FF2B5EF4-FFF2-40B4-BE49-F238E27FC236}">
                <a16:creationId xmlns:a16="http://schemas.microsoft.com/office/drawing/2014/main" id="{70B7F5F0-EE2F-45FE-8131-64E08CBFCB32}"/>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7" name="Rectangle 16">
            <a:extLst>
              <a:ext uri="{FF2B5EF4-FFF2-40B4-BE49-F238E27FC236}">
                <a16:creationId xmlns:a16="http://schemas.microsoft.com/office/drawing/2014/main" id="{E6E58A07-A9AC-4CCC-8EC8-0A04596ED964}"/>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04</a:t>
            </a:r>
          </a:p>
        </p:txBody>
      </p:sp>
    </p:spTree>
    <p:extLst>
      <p:ext uri="{BB962C8B-B14F-4D97-AF65-F5344CB8AC3E}">
        <p14:creationId xmlns:p14="http://schemas.microsoft.com/office/powerpoint/2010/main" val="10924728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B62679EE-2115-4F9D-9306-86790585D344}"/>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Data Cleaning</a:t>
            </a:r>
          </a:p>
        </p:txBody>
      </p:sp>
      <p:sp>
        <p:nvSpPr>
          <p:cNvPr id="2" name="Rectangle 1">
            <a:extLst>
              <a:ext uri="{FF2B5EF4-FFF2-40B4-BE49-F238E27FC236}">
                <a16:creationId xmlns:a16="http://schemas.microsoft.com/office/drawing/2014/main" id="{523567C0-FF2F-4648-B50D-234B8AD7009C}"/>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96A8857E-15CA-4D3F-9246-0B5A64EE0F61}"/>
              </a:ext>
            </a:extLst>
          </p:cNvPr>
          <p:cNvSpPr>
            <a:spLocks noGrp="1"/>
          </p:cNvSpPr>
          <p:nvPr/>
        </p:nvSpPr>
        <p:spPr>
          <a:xfrm>
            <a:off x="800100" y="1619250"/>
            <a:ext cx="6191250" cy="3333750"/>
          </a:xfrm>
          <a:prstGeom prst="rect">
            <a:avLst/>
          </a:prstGeom>
          <a:noFill/>
          <a:ln w="0">
            <a:noFill/>
            <a:prstDash val="solid"/>
          </a:ln>
        </p:spPr>
        <p:txBody>
          <a:bodyPr lIns="0" tIns="0" rIns="76200" bIns="0"/>
          <a:lstStyle/>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Checked for missing values across all columns</a:t>
            </a:r>
          </a:p>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Checked for duplicate records</a:t>
            </a:r>
          </a:p>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Converted reservation date to datetime format</a:t>
            </a:r>
          </a:p>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Removed invalid date records after conversion</a:t>
            </a:r>
          </a:p>
          <a:p>
            <a:pPr marL="24" indent="-14">
              <a:lnSpc>
                <a:spcPct val="112000"/>
              </a:lnSpc>
              <a:spcAft>
                <a:spcPts val="10"/>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Confirmed the dataset was ready for analysis and modelling</a:t>
            </a:r>
          </a:p>
        </p:txBody>
      </p:sp>
      <p:sp>
        <p:nvSpPr>
          <p:cNvPr id="4" name="Rectangle: Rounded Corners 3">
            <a:extLst>
              <a:ext uri="{FF2B5EF4-FFF2-40B4-BE49-F238E27FC236}">
                <a16:creationId xmlns:a16="http://schemas.microsoft.com/office/drawing/2014/main" id="{652E04D7-5E47-43B7-A3BF-3ACAD67DBCD4}"/>
              </a:ext>
            </a:extLst>
          </p:cNvPr>
          <p:cNvSpPr>
            <a:spLocks noGrp="1"/>
          </p:cNvSpPr>
          <p:nvPr/>
        </p:nvSpPr>
        <p:spPr>
          <a:xfrm>
            <a:off x="7524750" y="1714500"/>
            <a:ext cx="3143250" cy="1619250"/>
          </a:xfrm>
          <a:prstGeom prst="roundRect">
            <a:avLst>
              <a:gd name="adj" fmla="val 5882"/>
            </a:avLst>
          </a:prstGeom>
          <a:solidFill>
            <a:srgbClr val="F3F4F6"/>
          </a:solidFill>
          <a:ln w="9525">
            <a:solidFill>
              <a:srgbClr val="E5E7EB"/>
            </a:solidFill>
            <a:prstDash val="solid"/>
          </a:ln>
        </p:spPr>
        <p:txBody>
          <a:bodyPr/>
          <a:lstStyle/>
          <a:p>
            <a:endParaRPr lang="en-US"/>
          </a:p>
        </p:txBody>
      </p:sp>
      <p:sp>
        <p:nvSpPr>
          <p:cNvPr id="5" name="Rectangle 4">
            <a:extLst>
              <a:ext uri="{FF2B5EF4-FFF2-40B4-BE49-F238E27FC236}">
                <a16:creationId xmlns:a16="http://schemas.microsoft.com/office/drawing/2014/main" id="{69D15DE4-58E1-48B0-B141-A35257D9A84F}"/>
              </a:ext>
            </a:extLst>
          </p:cNvPr>
          <p:cNvSpPr>
            <a:spLocks noGrp="1"/>
          </p:cNvSpPr>
          <p:nvPr/>
        </p:nvSpPr>
        <p:spPr>
          <a:xfrm>
            <a:off x="7734300" y="1885950"/>
            <a:ext cx="2724150"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Quality check result</a:t>
            </a:r>
          </a:p>
        </p:txBody>
      </p:sp>
      <p:sp>
        <p:nvSpPr>
          <p:cNvPr id="6" name="Rectangle 5">
            <a:extLst>
              <a:ext uri="{FF2B5EF4-FFF2-40B4-BE49-F238E27FC236}">
                <a16:creationId xmlns:a16="http://schemas.microsoft.com/office/drawing/2014/main" id="{D87CA083-C7F2-48BF-B11A-47115D1415D3}"/>
              </a:ext>
            </a:extLst>
          </p:cNvPr>
          <p:cNvSpPr>
            <a:spLocks noGrp="1"/>
          </p:cNvSpPr>
          <p:nvPr/>
        </p:nvSpPr>
        <p:spPr>
          <a:xfrm>
            <a:off x="7734300" y="2247900"/>
            <a:ext cx="2724150" cy="9525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No duplicate records were found in the dataset. The original data also showed no missing values before date conversion.</a:t>
            </a:r>
          </a:p>
        </p:txBody>
      </p:sp>
      <p:sp>
        <p:nvSpPr>
          <p:cNvPr id="7" name="Rectangle: Rounded Corners 6">
            <a:extLst>
              <a:ext uri="{FF2B5EF4-FFF2-40B4-BE49-F238E27FC236}">
                <a16:creationId xmlns:a16="http://schemas.microsoft.com/office/drawing/2014/main" id="{03559178-E65F-4810-8B1C-6BE7C6983FD1}"/>
              </a:ext>
            </a:extLst>
          </p:cNvPr>
          <p:cNvSpPr>
            <a:spLocks noGrp="1"/>
          </p:cNvSpPr>
          <p:nvPr/>
        </p:nvSpPr>
        <p:spPr>
          <a:xfrm>
            <a:off x="7524750" y="3714750"/>
            <a:ext cx="3143250" cy="1428750"/>
          </a:xfrm>
          <a:prstGeom prst="roundRect">
            <a:avLst>
              <a:gd name="adj" fmla="val 6667"/>
            </a:avLst>
          </a:prstGeom>
          <a:solidFill>
            <a:srgbClr val="F59E0B"/>
          </a:solidFill>
          <a:ln w="9525">
            <a:solidFill>
              <a:srgbClr val="E5E7EB"/>
            </a:solidFill>
            <a:prstDash val="solid"/>
          </a:ln>
        </p:spPr>
        <p:txBody>
          <a:bodyPr/>
          <a:lstStyle/>
          <a:p>
            <a:endParaRPr lang="en-US"/>
          </a:p>
        </p:txBody>
      </p:sp>
      <p:sp>
        <p:nvSpPr>
          <p:cNvPr id="8" name="Rectangle 7">
            <a:extLst>
              <a:ext uri="{FF2B5EF4-FFF2-40B4-BE49-F238E27FC236}">
                <a16:creationId xmlns:a16="http://schemas.microsoft.com/office/drawing/2014/main" id="{6F5D85FB-AC92-4D43-B11B-C6BEBC7A31CE}"/>
              </a:ext>
            </a:extLst>
          </p:cNvPr>
          <p:cNvSpPr>
            <a:spLocks noGrp="1"/>
          </p:cNvSpPr>
          <p:nvPr/>
        </p:nvSpPr>
        <p:spPr>
          <a:xfrm>
            <a:off x="7734300" y="3886200"/>
            <a:ext cx="2724150" cy="266700"/>
          </a:xfrm>
          <a:prstGeom prst="rect">
            <a:avLst/>
          </a:prstGeom>
          <a:noFill/>
          <a:ln w="0">
            <a:noFill/>
            <a:prstDash val="solid"/>
          </a:ln>
        </p:spPr>
        <p:txBody>
          <a:bodyPr lIns="0" tIns="0" rIns="0" bIns="0" anchor="t"/>
          <a:lstStyle/>
          <a:p>
            <a:pPr algn="l">
              <a:lnSpc>
                <a:spcPct val="11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Data reliability</a:t>
            </a:r>
          </a:p>
        </p:txBody>
      </p:sp>
      <p:sp>
        <p:nvSpPr>
          <p:cNvPr id="9" name="Rectangle 8">
            <a:extLst>
              <a:ext uri="{FF2B5EF4-FFF2-40B4-BE49-F238E27FC236}">
                <a16:creationId xmlns:a16="http://schemas.microsoft.com/office/drawing/2014/main" id="{7FF50650-CE01-4856-9362-0F6F71A39A13}"/>
              </a:ext>
            </a:extLst>
          </p:cNvPr>
          <p:cNvSpPr>
            <a:spLocks noGrp="1"/>
          </p:cNvSpPr>
          <p:nvPr/>
        </p:nvSpPr>
        <p:spPr>
          <a:xfrm>
            <a:off x="7734300" y="4248150"/>
            <a:ext cx="2724150" cy="762000"/>
          </a:xfrm>
          <a:prstGeom prst="rect">
            <a:avLst/>
          </a:prstGeom>
          <a:noFill/>
          <a:ln w="0">
            <a:noFill/>
            <a:prstDash val="solid"/>
          </a:ln>
        </p:spPr>
        <p:txBody>
          <a:bodyPr lIns="0" tIns="0" rIns="0" bIns="0" anchor="t"/>
          <a:lstStyle/>
          <a:p>
            <a:pPr algn="l">
              <a:lnSpc>
                <a:spcPct val="115000"/>
              </a:lnSpc>
              <a:buNone/>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Cleaning ensured the analysis was based on valid records and correctly formatted date features.</a:t>
            </a:r>
          </a:p>
        </p:txBody>
      </p:sp>
      <p:sp>
        <p:nvSpPr>
          <p:cNvPr id="10" name="Rectangle 9">
            <a:extLst>
              <a:ext uri="{FF2B5EF4-FFF2-40B4-BE49-F238E27FC236}">
                <a16:creationId xmlns:a16="http://schemas.microsoft.com/office/drawing/2014/main" id="{5D25F1BA-704F-4760-977B-989D22966B55}"/>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1" name="Rectangle 10">
            <a:extLst>
              <a:ext uri="{FF2B5EF4-FFF2-40B4-BE49-F238E27FC236}">
                <a16:creationId xmlns:a16="http://schemas.microsoft.com/office/drawing/2014/main" id="{AE853D50-3966-44C8-A4D1-0140086C83E1}"/>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05</a:t>
            </a:r>
          </a:p>
        </p:txBody>
      </p:sp>
    </p:spTree>
    <p:extLst>
      <p:ext uri="{BB962C8B-B14F-4D97-AF65-F5344CB8AC3E}">
        <p14:creationId xmlns:p14="http://schemas.microsoft.com/office/powerpoint/2010/main" val="12407391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EE5E7D49-1260-4828-826A-802103C707C2}"/>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Feature Engineering</a:t>
            </a:r>
          </a:p>
        </p:txBody>
      </p:sp>
      <p:sp>
        <p:nvSpPr>
          <p:cNvPr id="2" name="Rectangle 1">
            <a:extLst>
              <a:ext uri="{FF2B5EF4-FFF2-40B4-BE49-F238E27FC236}">
                <a16:creationId xmlns:a16="http://schemas.microsoft.com/office/drawing/2014/main" id="{FB96491C-3CB6-4131-BFB9-71BF64690701}"/>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CB3876BD-86F7-4B5C-B120-F9A00B0DFA7D}"/>
              </a:ext>
            </a:extLst>
          </p:cNvPr>
          <p:cNvSpPr>
            <a:spLocks noGrp="1"/>
          </p:cNvSpPr>
          <p:nvPr/>
        </p:nvSpPr>
        <p:spPr>
          <a:xfrm>
            <a:off x="800100" y="1600200"/>
            <a:ext cx="3714750" cy="323850"/>
          </a:xfrm>
          <a:prstGeom prst="rect">
            <a:avLst/>
          </a:prstGeom>
          <a:noFill/>
          <a:ln w="0">
            <a:noFill/>
            <a:prstDash val="solid"/>
          </a:ln>
        </p:spPr>
        <p:txBody>
          <a:bodyPr lIns="0" tIns="0" rIns="0" bIns="0" anchor="t"/>
          <a:lstStyle/>
          <a:p>
            <a:pPr algn="l">
              <a:lnSpc>
                <a:spcPct val="115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New features created</a:t>
            </a:r>
          </a:p>
        </p:txBody>
      </p:sp>
      <p:sp>
        <p:nvSpPr>
          <p:cNvPr id="4" name="Rectangle 3">
            <a:extLst>
              <a:ext uri="{FF2B5EF4-FFF2-40B4-BE49-F238E27FC236}">
                <a16:creationId xmlns:a16="http://schemas.microsoft.com/office/drawing/2014/main" id="{0F7BD41B-616E-4D11-A92C-70ACFE32DE15}"/>
              </a:ext>
            </a:extLst>
          </p:cNvPr>
          <p:cNvSpPr>
            <a:spLocks noGrp="1"/>
          </p:cNvSpPr>
          <p:nvPr/>
        </p:nvSpPr>
        <p:spPr>
          <a:xfrm>
            <a:off x="876300" y="2143125"/>
            <a:ext cx="4000500" cy="2095500"/>
          </a:xfrm>
          <a:prstGeom prst="rect">
            <a:avLst/>
          </a:prstGeom>
          <a:noFill/>
          <a:ln w="0">
            <a:noFill/>
            <a:prstDash val="solid"/>
          </a:ln>
        </p:spPr>
        <p:txBody>
          <a:bodyPr lIns="0" tIns="0" rIns="76200" bIns="0"/>
          <a:lstStyle/>
          <a:p>
            <a:pPr marL="24" indent="-14">
              <a:lnSpc>
                <a:spcPct val="112000"/>
              </a:lnSpc>
              <a:spcAft>
                <a:spcPts val="12"/>
              </a:spcAft>
              <a:buNone/>
              <a:defRPr sz="1875">
                <a:solidFill>
                  <a:srgbClr val="111827"/>
                </a:solidFill>
                <a:latin typeface="Helvetica Neue"/>
                <a:ea typeface="Helvetica Neue"/>
                <a:cs typeface="Helvetica Neue"/>
              </a:defRPr>
            </a:pPr>
            <a:r>
              <a:rPr sz="1875">
                <a:solidFill>
                  <a:srgbClr val="111827"/>
                </a:solidFill>
                <a:latin typeface="Helvetica Neue"/>
                <a:ea typeface="Helvetica Neue"/>
                <a:cs typeface="Helvetica Neue"/>
              </a:rPr>
              <a:t>Year</a:t>
            </a:r>
          </a:p>
          <a:p>
            <a:pPr marL="24" indent="-14">
              <a:lnSpc>
                <a:spcPct val="112000"/>
              </a:lnSpc>
              <a:spcAft>
                <a:spcPts val="12"/>
              </a:spcAft>
              <a:buNone/>
              <a:defRPr sz="1875">
                <a:solidFill>
                  <a:srgbClr val="111827"/>
                </a:solidFill>
                <a:latin typeface="Helvetica Neue"/>
                <a:ea typeface="Helvetica Neue"/>
                <a:cs typeface="Helvetica Neue"/>
              </a:defRPr>
            </a:pPr>
            <a:r>
              <a:rPr sz="1875">
                <a:solidFill>
                  <a:srgbClr val="111827"/>
                </a:solidFill>
                <a:latin typeface="Helvetica Neue"/>
                <a:ea typeface="Helvetica Neue"/>
                <a:cs typeface="Helvetica Neue"/>
              </a:rPr>
              <a:t>Month</a:t>
            </a:r>
          </a:p>
          <a:p>
            <a:pPr marL="24" indent="-14">
              <a:lnSpc>
                <a:spcPct val="112000"/>
              </a:lnSpc>
              <a:spcAft>
                <a:spcPts val="12"/>
              </a:spcAft>
              <a:buNone/>
              <a:defRPr sz="1875">
                <a:solidFill>
                  <a:srgbClr val="111827"/>
                </a:solidFill>
                <a:latin typeface="Helvetica Neue"/>
                <a:ea typeface="Helvetica Neue"/>
                <a:cs typeface="Helvetica Neue"/>
              </a:defRPr>
            </a:pPr>
            <a:r>
              <a:rPr sz="1875">
                <a:solidFill>
                  <a:srgbClr val="111827"/>
                </a:solidFill>
                <a:latin typeface="Helvetica Neue"/>
                <a:ea typeface="Helvetica Neue"/>
                <a:cs typeface="Helvetica Neue"/>
              </a:rPr>
              <a:t>Month name</a:t>
            </a:r>
          </a:p>
          <a:p>
            <a:pPr marL="24" indent="-14">
              <a:lnSpc>
                <a:spcPct val="112000"/>
              </a:lnSpc>
              <a:spcAft>
                <a:spcPts val="12"/>
              </a:spcAft>
              <a:buNone/>
              <a:defRPr sz="1875">
                <a:solidFill>
                  <a:srgbClr val="111827"/>
                </a:solidFill>
                <a:latin typeface="Helvetica Neue"/>
                <a:ea typeface="Helvetica Neue"/>
                <a:cs typeface="Helvetica Neue"/>
              </a:defRPr>
            </a:pPr>
            <a:r>
              <a:rPr sz="1875">
                <a:solidFill>
                  <a:srgbClr val="111827"/>
                </a:solidFill>
                <a:latin typeface="Helvetica Neue"/>
                <a:ea typeface="Helvetica Neue"/>
                <a:cs typeface="Helvetica Neue"/>
              </a:rPr>
              <a:t>Quarter</a:t>
            </a:r>
          </a:p>
          <a:p>
            <a:pPr marL="24" indent="-14">
              <a:lnSpc>
                <a:spcPct val="112000"/>
              </a:lnSpc>
              <a:spcAft>
                <a:spcPts val="12"/>
              </a:spcAft>
              <a:buNone/>
              <a:defRPr sz="1875">
                <a:solidFill>
                  <a:srgbClr val="111827"/>
                </a:solidFill>
                <a:latin typeface="Helvetica Neue"/>
                <a:ea typeface="Helvetica Neue"/>
                <a:cs typeface="Helvetica Neue"/>
              </a:defRPr>
            </a:pPr>
            <a:r>
              <a:rPr sz="1875">
                <a:solidFill>
                  <a:srgbClr val="111827"/>
                </a:solidFill>
                <a:latin typeface="Helvetica Neue"/>
                <a:ea typeface="Helvetica Neue"/>
                <a:cs typeface="Helvetica Neue"/>
              </a:rPr>
              <a:t>Lead time group</a:t>
            </a:r>
          </a:p>
        </p:txBody>
      </p:sp>
      <p:sp>
        <p:nvSpPr>
          <p:cNvPr id="5" name="Rectangle 4">
            <a:extLst>
              <a:ext uri="{FF2B5EF4-FFF2-40B4-BE49-F238E27FC236}">
                <a16:creationId xmlns:a16="http://schemas.microsoft.com/office/drawing/2014/main" id="{2ED74E8C-BF35-4A07-870E-34A86F43E745}"/>
              </a:ext>
            </a:extLst>
          </p:cNvPr>
          <p:cNvSpPr>
            <a:spLocks noGrp="1"/>
          </p:cNvSpPr>
          <p:nvPr/>
        </p:nvSpPr>
        <p:spPr>
          <a:xfrm>
            <a:off x="5667375" y="1714500"/>
            <a:ext cx="19050" cy="3238500"/>
          </a:xfrm>
          <a:prstGeom prst="rect">
            <a:avLst/>
          </a:prstGeom>
          <a:solidFill>
            <a:srgbClr val="D1D5DB"/>
          </a:solidFill>
          <a:ln w="0">
            <a:solidFill>
              <a:srgbClr val="D1D5DB"/>
            </a:solidFill>
            <a:prstDash val="solid"/>
          </a:ln>
        </p:spPr>
        <p:txBody>
          <a:bodyPr/>
          <a:lstStyle/>
          <a:p>
            <a:endParaRPr lang="en-US"/>
          </a:p>
        </p:txBody>
      </p:sp>
      <p:sp>
        <p:nvSpPr>
          <p:cNvPr id="6" name="Rectangle 5">
            <a:extLst>
              <a:ext uri="{FF2B5EF4-FFF2-40B4-BE49-F238E27FC236}">
                <a16:creationId xmlns:a16="http://schemas.microsoft.com/office/drawing/2014/main" id="{87F1DE00-6E25-495E-AE2B-A76E87F8F995}"/>
              </a:ext>
            </a:extLst>
          </p:cNvPr>
          <p:cNvSpPr>
            <a:spLocks noGrp="1"/>
          </p:cNvSpPr>
          <p:nvPr/>
        </p:nvSpPr>
        <p:spPr>
          <a:xfrm>
            <a:off x="6191250" y="1600200"/>
            <a:ext cx="4095750" cy="323850"/>
          </a:xfrm>
          <a:prstGeom prst="rect">
            <a:avLst/>
          </a:prstGeom>
          <a:noFill/>
          <a:ln w="0">
            <a:noFill/>
            <a:prstDash val="solid"/>
          </a:ln>
        </p:spPr>
        <p:txBody>
          <a:bodyPr lIns="0" tIns="0" rIns="0" bIns="0" anchor="t"/>
          <a:lstStyle/>
          <a:p>
            <a:pPr algn="l">
              <a:lnSpc>
                <a:spcPct val="115000"/>
              </a:lnSpc>
              <a:buNone/>
              <a:defRPr sz="1875" b="1">
                <a:solidFill>
                  <a:srgbClr val="111827"/>
                </a:solidFill>
                <a:latin typeface="Helvetica Neue"/>
                <a:ea typeface="Helvetica Neue"/>
                <a:cs typeface="Helvetica Neue"/>
              </a:defRPr>
            </a:pPr>
            <a:r>
              <a:rPr sz="1875" b="1">
                <a:solidFill>
                  <a:srgbClr val="111827"/>
                </a:solidFill>
                <a:latin typeface="Helvetica Neue"/>
                <a:ea typeface="Helvetica Neue"/>
                <a:cs typeface="Helvetica Neue"/>
              </a:rPr>
              <a:t>Machine learning preparation</a:t>
            </a:r>
          </a:p>
        </p:txBody>
      </p:sp>
      <p:sp>
        <p:nvSpPr>
          <p:cNvPr id="7" name="Rectangle 6">
            <a:extLst>
              <a:ext uri="{FF2B5EF4-FFF2-40B4-BE49-F238E27FC236}">
                <a16:creationId xmlns:a16="http://schemas.microsoft.com/office/drawing/2014/main" id="{84A2816C-1A8E-4E6A-ABD5-E6B233EC5DB9}"/>
              </a:ext>
            </a:extLst>
          </p:cNvPr>
          <p:cNvSpPr>
            <a:spLocks noGrp="1"/>
          </p:cNvSpPr>
          <p:nvPr/>
        </p:nvSpPr>
        <p:spPr>
          <a:xfrm>
            <a:off x="6191250" y="2143125"/>
            <a:ext cx="4762500" cy="2095500"/>
          </a:xfrm>
          <a:prstGeom prst="rect">
            <a:avLst/>
          </a:prstGeom>
          <a:noFill/>
          <a:ln w="0">
            <a:noFill/>
            <a:prstDash val="solid"/>
          </a:ln>
        </p:spPr>
        <p:txBody>
          <a:bodyPr lIns="0" tIns="0" rIns="76200" bIns="0"/>
          <a:lstStyle/>
          <a:p>
            <a:pPr marL="24" indent="-14">
              <a:lnSpc>
                <a:spcPct val="112000"/>
              </a:lnSpc>
              <a:spcAft>
                <a:spcPts val="12"/>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Categorical variables were encoded into numerical format</a:t>
            </a:r>
          </a:p>
          <a:p>
            <a:pPr marL="24" indent="-14">
              <a:lnSpc>
                <a:spcPct val="112000"/>
              </a:lnSpc>
              <a:spcAft>
                <a:spcPts val="12"/>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Date information was transformed into useful time-based features</a:t>
            </a:r>
          </a:p>
          <a:p>
            <a:pPr marL="24" indent="-14">
              <a:lnSpc>
                <a:spcPct val="112000"/>
              </a:lnSpc>
              <a:spcAft>
                <a:spcPts val="12"/>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Lead time was grouped to reveal booking behaviour patterns</a:t>
            </a:r>
          </a:p>
        </p:txBody>
      </p:sp>
      <p:sp>
        <p:nvSpPr>
          <p:cNvPr id="8" name="Rectangle: Rounded Corners 7">
            <a:extLst>
              <a:ext uri="{FF2B5EF4-FFF2-40B4-BE49-F238E27FC236}">
                <a16:creationId xmlns:a16="http://schemas.microsoft.com/office/drawing/2014/main" id="{97A02E8A-2185-4559-9A53-A6B12ED4FD17}"/>
              </a:ext>
            </a:extLst>
          </p:cNvPr>
          <p:cNvSpPr>
            <a:spLocks noGrp="1"/>
          </p:cNvSpPr>
          <p:nvPr/>
        </p:nvSpPr>
        <p:spPr>
          <a:xfrm>
            <a:off x="2876550" y="5067299"/>
            <a:ext cx="7410450" cy="1276351"/>
          </a:xfrm>
          <a:prstGeom prst="roundRect">
            <a:avLst>
              <a:gd name="adj" fmla="val 12195"/>
            </a:avLst>
          </a:prstGeom>
          <a:solidFill>
            <a:srgbClr val="F3F4F6"/>
          </a:solidFill>
          <a:ln w="9525">
            <a:solidFill>
              <a:srgbClr val="E5E7EB"/>
            </a:solidFill>
            <a:prstDash val="solid"/>
          </a:ln>
        </p:spPr>
        <p:txBody>
          <a:bodyPr/>
          <a:lstStyle/>
          <a:p>
            <a:endParaRPr lang="en-US"/>
          </a:p>
        </p:txBody>
      </p:sp>
      <p:sp>
        <p:nvSpPr>
          <p:cNvPr id="9" name="Rectangle 8">
            <a:extLst>
              <a:ext uri="{FF2B5EF4-FFF2-40B4-BE49-F238E27FC236}">
                <a16:creationId xmlns:a16="http://schemas.microsoft.com/office/drawing/2014/main" id="{44450350-E4BC-4A2D-BBC2-687C6A1E1983}"/>
              </a:ext>
            </a:extLst>
          </p:cNvPr>
          <p:cNvSpPr>
            <a:spLocks noGrp="1"/>
          </p:cNvSpPr>
          <p:nvPr/>
        </p:nvSpPr>
        <p:spPr>
          <a:xfrm>
            <a:off x="3086100" y="5238750"/>
            <a:ext cx="6010275"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Purpose</a:t>
            </a:r>
          </a:p>
        </p:txBody>
      </p:sp>
      <p:sp>
        <p:nvSpPr>
          <p:cNvPr id="10" name="Rectangle 9">
            <a:extLst>
              <a:ext uri="{FF2B5EF4-FFF2-40B4-BE49-F238E27FC236}">
                <a16:creationId xmlns:a16="http://schemas.microsoft.com/office/drawing/2014/main" id="{F073270C-2ABE-40B8-94E5-AC5450B9A020}"/>
              </a:ext>
            </a:extLst>
          </p:cNvPr>
          <p:cNvSpPr>
            <a:spLocks noGrp="1"/>
          </p:cNvSpPr>
          <p:nvPr/>
        </p:nvSpPr>
        <p:spPr>
          <a:xfrm>
            <a:off x="3086100" y="5600700"/>
            <a:ext cx="6010275" cy="1143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Feature engineering made the dataset more meaningful for both business analysis and model performance.</a:t>
            </a:r>
          </a:p>
        </p:txBody>
      </p:sp>
      <p:sp>
        <p:nvSpPr>
          <p:cNvPr id="11" name="Rectangle 10">
            <a:extLst>
              <a:ext uri="{FF2B5EF4-FFF2-40B4-BE49-F238E27FC236}">
                <a16:creationId xmlns:a16="http://schemas.microsoft.com/office/drawing/2014/main" id="{BD703DF6-9E5D-411C-8DAE-00846A2903DA}"/>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2" name="Rectangle 11">
            <a:extLst>
              <a:ext uri="{FF2B5EF4-FFF2-40B4-BE49-F238E27FC236}">
                <a16:creationId xmlns:a16="http://schemas.microsoft.com/office/drawing/2014/main" id="{9F1F751E-19E7-41A7-B994-28400D26BEA9}"/>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06</a:t>
            </a:r>
          </a:p>
        </p:txBody>
      </p:sp>
    </p:spTree>
    <p:extLst>
      <p:ext uri="{BB962C8B-B14F-4D97-AF65-F5344CB8AC3E}">
        <p14:creationId xmlns:p14="http://schemas.microsoft.com/office/powerpoint/2010/main" val="5471747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DD1C44A-E955-4DBA-99E1-B121D46999B0}"/>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Booking Status Distribution</a:t>
            </a:r>
          </a:p>
        </p:txBody>
      </p:sp>
      <p:sp>
        <p:nvSpPr>
          <p:cNvPr id="2" name="Rectangle 1">
            <a:extLst>
              <a:ext uri="{FF2B5EF4-FFF2-40B4-BE49-F238E27FC236}">
                <a16:creationId xmlns:a16="http://schemas.microsoft.com/office/drawing/2014/main" id="{E589767A-9EEB-47BD-8D40-3DB8E6DD2A62}"/>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D08A17C5-7752-4863-A7B8-DCF779D6C8A1}"/>
              </a:ext>
            </a:extLst>
          </p:cNvPr>
          <p:cNvSpPr>
            <a:spLocks noGrp="1"/>
          </p:cNvSpPr>
          <p:nvPr/>
        </p:nvSpPr>
        <p:spPr>
          <a:xfrm>
            <a:off x="666750" y="1143000"/>
            <a:ext cx="8572500" cy="3048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Visual: Booking Status</a:t>
            </a:r>
          </a:p>
        </p:txBody>
      </p:sp>
      <p:pic>
        <p:nvPicPr>
          <p:cNvPr id="17" name="Picture 16"/>
          <p:cNvPicPr>
            <a:picLocks noChangeAspect="1"/>
          </p:cNvPicPr>
          <p:nvPr/>
        </p:nvPicPr>
        <p:blipFill>
          <a:blip r:embed="rId3"/>
          <a:stretch/>
        </p:blipFill>
        <p:spPr>
          <a:xfrm>
            <a:off x="895350" y="1706836"/>
            <a:ext cx="6572250" cy="3349078"/>
          </a:xfrm>
          <a:prstGeom prst="rect">
            <a:avLst/>
          </a:prstGeom>
        </p:spPr>
      </p:pic>
      <p:sp>
        <p:nvSpPr>
          <p:cNvPr id="5" name="Rectangle: Rounded Corners 4">
            <a:extLst>
              <a:ext uri="{FF2B5EF4-FFF2-40B4-BE49-F238E27FC236}">
                <a16:creationId xmlns:a16="http://schemas.microsoft.com/office/drawing/2014/main" id="{B661A46A-14FE-4C85-B888-B36CE4B94F21}"/>
              </a:ext>
            </a:extLst>
          </p:cNvPr>
          <p:cNvSpPr>
            <a:spLocks noGrp="1"/>
          </p:cNvSpPr>
          <p:nvPr/>
        </p:nvSpPr>
        <p:spPr>
          <a:xfrm>
            <a:off x="7905750" y="1695450"/>
            <a:ext cx="2381250" cy="1190625"/>
          </a:xfrm>
          <a:prstGeom prst="roundRect">
            <a:avLst>
              <a:gd name="adj" fmla="val 6400"/>
            </a:avLst>
          </a:prstGeom>
          <a:solidFill>
            <a:srgbClr val="F3F4F6"/>
          </a:solidFill>
          <a:ln w="9525">
            <a:solidFill>
              <a:srgbClr val="E5E7EB"/>
            </a:solidFill>
            <a:prstDash val="solid"/>
          </a:ln>
        </p:spPr>
        <p:txBody>
          <a:bodyPr/>
          <a:lstStyle/>
          <a:p>
            <a:endParaRPr lang="en-US"/>
          </a:p>
        </p:txBody>
      </p:sp>
      <p:sp>
        <p:nvSpPr>
          <p:cNvPr id="6" name="Rectangle 5">
            <a:extLst>
              <a:ext uri="{FF2B5EF4-FFF2-40B4-BE49-F238E27FC236}">
                <a16:creationId xmlns:a16="http://schemas.microsoft.com/office/drawing/2014/main" id="{D59A5276-C064-480E-9438-ABF0B9BAB4EE}"/>
              </a:ext>
            </a:extLst>
          </p:cNvPr>
          <p:cNvSpPr>
            <a:spLocks noGrp="1"/>
          </p:cNvSpPr>
          <p:nvPr/>
        </p:nvSpPr>
        <p:spPr>
          <a:xfrm>
            <a:off x="8077200" y="1847850"/>
            <a:ext cx="2038350" cy="457200"/>
          </a:xfrm>
          <a:prstGeom prst="rect">
            <a:avLst/>
          </a:prstGeom>
          <a:noFill/>
          <a:ln w="0">
            <a:noFill/>
            <a:prstDash val="solid"/>
          </a:ln>
        </p:spPr>
        <p:txBody>
          <a:bodyPr lIns="0" tIns="0" rIns="0" bIns="0" anchor="t"/>
          <a:lstStyle/>
          <a:p>
            <a:pPr algn="ctr">
              <a:lnSpc>
                <a:spcPct val="115000"/>
              </a:lnSpc>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67.2%</a:t>
            </a:r>
          </a:p>
        </p:txBody>
      </p:sp>
      <p:sp>
        <p:nvSpPr>
          <p:cNvPr id="7" name="Rectangle 6">
            <a:extLst>
              <a:ext uri="{FF2B5EF4-FFF2-40B4-BE49-F238E27FC236}">
                <a16:creationId xmlns:a16="http://schemas.microsoft.com/office/drawing/2014/main" id="{DE7003EC-51C4-4489-8330-CA9D7EA94CB5}"/>
              </a:ext>
            </a:extLst>
          </p:cNvPr>
          <p:cNvSpPr>
            <a:spLocks noGrp="1"/>
          </p:cNvSpPr>
          <p:nvPr/>
        </p:nvSpPr>
        <p:spPr>
          <a:xfrm>
            <a:off x="8058150" y="2381250"/>
            <a:ext cx="2076450" cy="457200"/>
          </a:xfrm>
          <a:prstGeom prst="rect">
            <a:avLst/>
          </a:prstGeom>
          <a:noFill/>
          <a:ln w="0">
            <a:noFill/>
            <a:prstDash val="solid"/>
          </a:ln>
        </p:spPr>
        <p:txBody>
          <a:bodyPr lIns="0" tIns="0" rIns="0" bIns="0" anchor="t"/>
          <a:lstStyle/>
          <a:p>
            <a:pPr algn="ctr">
              <a:lnSpc>
                <a:spcPct val="11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not cancelled</a:t>
            </a:r>
          </a:p>
        </p:txBody>
      </p:sp>
      <p:sp>
        <p:nvSpPr>
          <p:cNvPr id="8" name="Rectangle: Rounded Corners 7">
            <a:extLst>
              <a:ext uri="{FF2B5EF4-FFF2-40B4-BE49-F238E27FC236}">
                <a16:creationId xmlns:a16="http://schemas.microsoft.com/office/drawing/2014/main" id="{74414878-E088-4D64-A1CE-869D4BED246C}"/>
              </a:ext>
            </a:extLst>
          </p:cNvPr>
          <p:cNvSpPr>
            <a:spLocks noGrp="1"/>
          </p:cNvSpPr>
          <p:nvPr/>
        </p:nvSpPr>
        <p:spPr>
          <a:xfrm>
            <a:off x="7905750" y="3143250"/>
            <a:ext cx="2381250" cy="1190625"/>
          </a:xfrm>
          <a:prstGeom prst="roundRect">
            <a:avLst>
              <a:gd name="adj" fmla="val 6400"/>
            </a:avLst>
          </a:prstGeom>
          <a:solidFill>
            <a:srgbClr val="FFF7ED"/>
          </a:solidFill>
          <a:ln w="9525">
            <a:solidFill>
              <a:srgbClr val="E5E7EB"/>
            </a:solidFill>
            <a:prstDash val="solid"/>
          </a:ln>
        </p:spPr>
        <p:txBody>
          <a:bodyPr/>
          <a:lstStyle/>
          <a:p>
            <a:endParaRPr lang="en-US"/>
          </a:p>
        </p:txBody>
      </p:sp>
      <p:sp>
        <p:nvSpPr>
          <p:cNvPr id="9" name="Rectangle 8">
            <a:extLst>
              <a:ext uri="{FF2B5EF4-FFF2-40B4-BE49-F238E27FC236}">
                <a16:creationId xmlns:a16="http://schemas.microsoft.com/office/drawing/2014/main" id="{FFF4EC7D-FFE8-4DA0-A30B-66BB694BC9E0}"/>
              </a:ext>
            </a:extLst>
          </p:cNvPr>
          <p:cNvSpPr>
            <a:spLocks noGrp="1"/>
          </p:cNvSpPr>
          <p:nvPr/>
        </p:nvSpPr>
        <p:spPr>
          <a:xfrm>
            <a:off x="8077200" y="3295650"/>
            <a:ext cx="2038350" cy="457200"/>
          </a:xfrm>
          <a:prstGeom prst="rect">
            <a:avLst/>
          </a:prstGeom>
          <a:noFill/>
          <a:ln w="0">
            <a:noFill/>
            <a:prstDash val="solid"/>
          </a:ln>
        </p:spPr>
        <p:txBody>
          <a:bodyPr lIns="0" tIns="0" rIns="0" bIns="0" anchor="t"/>
          <a:lstStyle/>
          <a:p>
            <a:pPr algn="ctr">
              <a:lnSpc>
                <a:spcPct val="115000"/>
              </a:lnSpc>
              <a:buNone/>
              <a:defRPr sz="3150" b="1">
                <a:solidFill>
                  <a:srgbClr val="111827"/>
                </a:solidFill>
                <a:latin typeface="Helvetica Neue"/>
                <a:ea typeface="Helvetica Neue"/>
                <a:cs typeface="Helvetica Neue"/>
              </a:defRPr>
            </a:pPr>
            <a:r>
              <a:rPr sz="3150" b="1">
                <a:solidFill>
                  <a:srgbClr val="111827"/>
                </a:solidFill>
                <a:latin typeface="Helvetica Neue"/>
                <a:ea typeface="Helvetica Neue"/>
                <a:cs typeface="Helvetica Neue"/>
              </a:rPr>
              <a:t>32.8%</a:t>
            </a:r>
          </a:p>
        </p:txBody>
      </p:sp>
      <p:sp>
        <p:nvSpPr>
          <p:cNvPr id="10" name="Rectangle 9">
            <a:extLst>
              <a:ext uri="{FF2B5EF4-FFF2-40B4-BE49-F238E27FC236}">
                <a16:creationId xmlns:a16="http://schemas.microsoft.com/office/drawing/2014/main" id="{704A1158-58DB-4FA6-BF6B-FDC1F4F567A7}"/>
              </a:ext>
            </a:extLst>
          </p:cNvPr>
          <p:cNvSpPr>
            <a:spLocks noGrp="1"/>
          </p:cNvSpPr>
          <p:nvPr/>
        </p:nvSpPr>
        <p:spPr>
          <a:xfrm>
            <a:off x="8058150" y="3829050"/>
            <a:ext cx="2076450" cy="457200"/>
          </a:xfrm>
          <a:prstGeom prst="rect">
            <a:avLst/>
          </a:prstGeom>
          <a:noFill/>
          <a:ln w="0">
            <a:noFill/>
            <a:prstDash val="solid"/>
          </a:ln>
        </p:spPr>
        <p:txBody>
          <a:bodyPr lIns="0" tIns="0" rIns="0" bIns="0" anchor="t"/>
          <a:lstStyle/>
          <a:p>
            <a:pPr algn="ctr">
              <a:lnSpc>
                <a:spcPct val="115000"/>
              </a:lnSpc>
              <a:buNone/>
              <a:defRPr sz="1200" b="0">
                <a:solidFill>
                  <a:srgbClr val="4B5563"/>
                </a:solidFill>
                <a:latin typeface="Helvetica Neue"/>
                <a:ea typeface="Helvetica Neue"/>
                <a:cs typeface="Helvetica Neue"/>
              </a:defRPr>
            </a:pPr>
            <a:r>
              <a:rPr sz="1200" b="0">
                <a:solidFill>
                  <a:srgbClr val="4B5563"/>
                </a:solidFill>
                <a:latin typeface="Helvetica Neue"/>
                <a:ea typeface="Helvetica Neue"/>
                <a:cs typeface="Helvetica Neue"/>
              </a:rPr>
              <a:t>cancelled</a:t>
            </a:r>
          </a:p>
        </p:txBody>
      </p:sp>
      <p:sp>
        <p:nvSpPr>
          <p:cNvPr id="11" name="Rectangle 10">
            <a:extLst>
              <a:ext uri="{FF2B5EF4-FFF2-40B4-BE49-F238E27FC236}">
                <a16:creationId xmlns:a16="http://schemas.microsoft.com/office/drawing/2014/main" id="{2E8EC228-2AA6-40DC-A6B6-11316C708524}"/>
              </a:ext>
            </a:extLst>
          </p:cNvPr>
          <p:cNvSpPr>
            <a:spLocks noGrp="1"/>
          </p:cNvSpPr>
          <p:nvPr/>
        </p:nvSpPr>
        <p:spPr>
          <a:xfrm>
            <a:off x="7905750" y="4810125"/>
            <a:ext cx="2952750" cy="857250"/>
          </a:xfrm>
          <a:prstGeom prst="rect">
            <a:avLst/>
          </a:prstGeom>
          <a:noFill/>
          <a:ln w="0">
            <a:noFill/>
            <a:prstDash val="solid"/>
          </a:ln>
        </p:spPr>
        <p:txBody>
          <a:bodyPr lIns="0" tIns="0" rIns="0" bIns="0" anchor="t"/>
          <a:lstStyle/>
          <a:p>
            <a:pPr algn="l">
              <a:lnSpc>
                <a:spcPct val="115000"/>
              </a:lnSpc>
              <a:buNone/>
              <a:defRPr sz="1425" b="0">
                <a:solidFill>
                  <a:srgbClr val="4B5563"/>
                </a:solidFill>
                <a:latin typeface="Helvetica Neue"/>
                <a:ea typeface="Helvetica Neue"/>
                <a:cs typeface="Helvetica Neue"/>
              </a:defRPr>
            </a:pPr>
            <a:r>
              <a:rPr sz="1425" b="0">
                <a:solidFill>
                  <a:srgbClr val="4B5563"/>
                </a:solidFill>
                <a:latin typeface="Helvetica Neue"/>
                <a:ea typeface="Helvetica Neue"/>
                <a:cs typeface="Helvetica Neue"/>
              </a:rPr>
              <a:t>Almost 1 in every 3 bookings did not go ahead, making cancellation prediction important for revenue and resource planning.</a:t>
            </a:r>
          </a:p>
        </p:txBody>
      </p:sp>
      <p:sp>
        <p:nvSpPr>
          <p:cNvPr id="12" name="Rectangle 11">
            <a:extLst>
              <a:ext uri="{FF2B5EF4-FFF2-40B4-BE49-F238E27FC236}">
                <a16:creationId xmlns:a16="http://schemas.microsoft.com/office/drawing/2014/main" id="{19174FCD-BC50-4062-849A-2789A4F7EB84}"/>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3" name="Rectangle 12">
            <a:extLst>
              <a:ext uri="{FF2B5EF4-FFF2-40B4-BE49-F238E27FC236}">
                <a16:creationId xmlns:a16="http://schemas.microsoft.com/office/drawing/2014/main" id="{3482FE10-B5AA-4761-82F1-7700D2290E8A}"/>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07</a:t>
            </a:r>
          </a:p>
        </p:txBody>
      </p:sp>
    </p:spTree>
    <p:extLst>
      <p:ext uri="{BB962C8B-B14F-4D97-AF65-F5344CB8AC3E}">
        <p14:creationId xmlns:p14="http://schemas.microsoft.com/office/powerpoint/2010/main" val="274785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6E61CC03-A328-4901-A667-D58053F46F53}"/>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Customer and Booking Behaviour</a:t>
            </a:r>
          </a:p>
        </p:txBody>
      </p:sp>
      <p:sp>
        <p:nvSpPr>
          <p:cNvPr id="2" name="Rectangle 1">
            <a:extLst>
              <a:ext uri="{FF2B5EF4-FFF2-40B4-BE49-F238E27FC236}">
                <a16:creationId xmlns:a16="http://schemas.microsoft.com/office/drawing/2014/main" id="{715294AF-2AAC-43DF-9539-A948084A1300}"/>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D55A6A72-D720-4699-9894-8B82E76D87ED}"/>
              </a:ext>
            </a:extLst>
          </p:cNvPr>
          <p:cNvSpPr>
            <a:spLocks noGrp="1"/>
          </p:cNvSpPr>
          <p:nvPr/>
        </p:nvSpPr>
        <p:spPr>
          <a:xfrm>
            <a:off x="800100" y="1619250"/>
            <a:ext cx="5905500" cy="3524250"/>
          </a:xfrm>
          <a:prstGeom prst="rect">
            <a:avLst/>
          </a:prstGeom>
          <a:noFill/>
          <a:ln w="0">
            <a:noFill/>
            <a:prstDash val="solid"/>
          </a:ln>
        </p:spPr>
        <p:txBody>
          <a:bodyPr lIns="0" tIns="0" rIns="76200" bIns="0"/>
          <a:lstStyle/>
          <a:p>
            <a:pPr marL="24" indent="-14">
              <a:lnSpc>
                <a:spcPct val="112000"/>
              </a:lnSpc>
              <a:spcAft>
                <a:spcPts val="10"/>
              </a:spcAft>
              <a:buNone/>
              <a:defRPr sz="1725">
                <a:solidFill>
                  <a:srgbClr val="111827"/>
                </a:solidFill>
                <a:latin typeface="Helvetica Neue"/>
                <a:ea typeface="Helvetica Neue"/>
                <a:cs typeface="Helvetica Neue"/>
              </a:defRPr>
            </a:pPr>
            <a:r>
              <a:rPr sz="1725" dirty="0">
                <a:solidFill>
                  <a:srgbClr val="111827"/>
                </a:solidFill>
                <a:latin typeface="Helvetica Neue"/>
                <a:ea typeface="Helvetica Neue"/>
                <a:cs typeface="Helvetica Neue"/>
              </a:rPr>
              <a:t>Most bookings were made for 2 adults</a:t>
            </a:r>
          </a:p>
          <a:p>
            <a:pPr marL="24" indent="-14">
              <a:lnSpc>
                <a:spcPct val="112000"/>
              </a:lnSpc>
              <a:spcAft>
                <a:spcPts val="10"/>
              </a:spcAft>
              <a:buNone/>
              <a:defRPr sz="1725">
                <a:solidFill>
                  <a:srgbClr val="111827"/>
                </a:solidFill>
                <a:latin typeface="Helvetica Neue"/>
                <a:ea typeface="Helvetica Neue"/>
                <a:cs typeface="Helvetica Neue"/>
              </a:defRPr>
            </a:pPr>
            <a:r>
              <a:rPr sz="1725" dirty="0">
                <a:solidFill>
                  <a:srgbClr val="111827"/>
                </a:solidFill>
                <a:latin typeface="Helvetica Neue"/>
                <a:ea typeface="Helvetica Neue"/>
                <a:cs typeface="Helvetica Neue"/>
              </a:rPr>
              <a:t>Most bookings had no children</a:t>
            </a:r>
          </a:p>
          <a:p>
            <a:pPr marL="24" indent="-14">
              <a:lnSpc>
                <a:spcPct val="112000"/>
              </a:lnSpc>
              <a:spcAft>
                <a:spcPts val="10"/>
              </a:spcAft>
              <a:buNone/>
              <a:defRPr sz="1725">
                <a:solidFill>
                  <a:srgbClr val="111827"/>
                </a:solidFill>
                <a:latin typeface="Helvetica Neue"/>
                <a:ea typeface="Helvetica Neue"/>
                <a:cs typeface="Helvetica Neue"/>
              </a:defRPr>
            </a:pPr>
            <a:r>
              <a:rPr sz="1725" dirty="0">
                <a:solidFill>
                  <a:srgbClr val="111827"/>
                </a:solidFill>
                <a:latin typeface="Helvetica Neue"/>
                <a:ea typeface="Helvetica Neue"/>
                <a:cs typeface="Helvetica Neue"/>
              </a:rPr>
              <a:t>Short stays were more common than long stays</a:t>
            </a:r>
          </a:p>
          <a:p>
            <a:pPr marL="24" indent="-14">
              <a:lnSpc>
                <a:spcPct val="112000"/>
              </a:lnSpc>
              <a:spcAft>
                <a:spcPts val="10"/>
              </a:spcAft>
              <a:buNone/>
              <a:defRPr sz="1725">
                <a:solidFill>
                  <a:srgbClr val="111827"/>
                </a:solidFill>
                <a:latin typeface="Helvetica Neue"/>
                <a:ea typeface="Helvetica Neue"/>
                <a:cs typeface="Helvetica Neue"/>
              </a:defRPr>
            </a:pPr>
            <a:r>
              <a:rPr sz="1725" dirty="0">
                <a:solidFill>
                  <a:srgbClr val="111827"/>
                </a:solidFill>
                <a:latin typeface="Helvetica Neue"/>
                <a:ea typeface="Helvetica Neue"/>
                <a:cs typeface="Helvetica Neue"/>
              </a:rPr>
              <a:t>Meal Plan 1 was the most selected meal option</a:t>
            </a:r>
          </a:p>
          <a:p>
            <a:pPr marL="24" indent="-14">
              <a:lnSpc>
                <a:spcPct val="112000"/>
              </a:lnSpc>
              <a:spcAft>
                <a:spcPts val="10"/>
              </a:spcAft>
              <a:buNone/>
              <a:defRPr sz="1725">
                <a:solidFill>
                  <a:srgbClr val="111827"/>
                </a:solidFill>
                <a:latin typeface="Helvetica Neue"/>
                <a:ea typeface="Helvetica Neue"/>
                <a:cs typeface="Helvetica Neue"/>
              </a:defRPr>
            </a:pPr>
            <a:r>
              <a:rPr sz="1725" dirty="0">
                <a:solidFill>
                  <a:srgbClr val="111827"/>
                </a:solidFill>
                <a:latin typeface="Helvetica Neue"/>
                <a:ea typeface="Helvetica Neue"/>
                <a:cs typeface="Helvetica Neue"/>
              </a:rPr>
              <a:t>Room Type 1 was the most commonly booked room</a:t>
            </a:r>
          </a:p>
          <a:p>
            <a:pPr marL="24" indent="-14">
              <a:lnSpc>
                <a:spcPct val="112000"/>
              </a:lnSpc>
              <a:spcAft>
                <a:spcPts val="10"/>
              </a:spcAft>
              <a:buNone/>
              <a:defRPr sz="1725">
                <a:solidFill>
                  <a:srgbClr val="111827"/>
                </a:solidFill>
                <a:latin typeface="Helvetica Neue"/>
                <a:ea typeface="Helvetica Neue"/>
                <a:cs typeface="Helvetica Neue"/>
              </a:defRPr>
            </a:pPr>
            <a:r>
              <a:rPr sz="1725" dirty="0">
                <a:solidFill>
                  <a:srgbClr val="111827"/>
                </a:solidFill>
                <a:latin typeface="Helvetica Neue"/>
                <a:ea typeface="Helvetica Neue"/>
                <a:cs typeface="Helvetica Neue"/>
              </a:rPr>
              <a:t>Online bookings formed the largest market segment</a:t>
            </a:r>
          </a:p>
        </p:txBody>
      </p:sp>
      <p:sp>
        <p:nvSpPr>
          <p:cNvPr id="4" name="Rectangle: Rounded Corners 3">
            <a:extLst>
              <a:ext uri="{FF2B5EF4-FFF2-40B4-BE49-F238E27FC236}">
                <a16:creationId xmlns:a16="http://schemas.microsoft.com/office/drawing/2014/main" id="{F0BF856A-3C7A-4AC8-8EB3-19E1648C9D66}"/>
              </a:ext>
            </a:extLst>
          </p:cNvPr>
          <p:cNvSpPr>
            <a:spLocks noGrp="1"/>
          </p:cNvSpPr>
          <p:nvPr/>
        </p:nvSpPr>
        <p:spPr>
          <a:xfrm>
            <a:off x="7239000" y="1695450"/>
            <a:ext cx="3429000" cy="1571625"/>
          </a:xfrm>
          <a:prstGeom prst="roundRect">
            <a:avLst>
              <a:gd name="adj" fmla="val 6061"/>
            </a:avLst>
          </a:prstGeom>
          <a:solidFill>
            <a:srgbClr val="F3F4F6"/>
          </a:solidFill>
          <a:ln w="9525">
            <a:solidFill>
              <a:srgbClr val="E5E7EB"/>
            </a:solidFill>
            <a:prstDash val="solid"/>
          </a:ln>
        </p:spPr>
        <p:txBody>
          <a:bodyPr/>
          <a:lstStyle/>
          <a:p>
            <a:endParaRPr lang="en-US"/>
          </a:p>
        </p:txBody>
      </p:sp>
      <p:sp>
        <p:nvSpPr>
          <p:cNvPr id="5" name="Rectangle 4">
            <a:extLst>
              <a:ext uri="{FF2B5EF4-FFF2-40B4-BE49-F238E27FC236}">
                <a16:creationId xmlns:a16="http://schemas.microsoft.com/office/drawing/2014/main" id="{2D46017F-ACB5-4547-BEE5-6CAFC08B7A7E}"/>
              </a:ext>
            </a:extLst>
          </p:cNvPr>
          <p:cNvSpPr>
            <a:spLocks noGrp="1"/>
          </p:cNvSpPr>
          <p:nvPr/>
        </p:nvSpPr>
        <p:spPr>
          <a:xfrm>
            <a:off x="7448550" y="1866900"/>
            <a:ext cx="3009900" cy="266700"/>
          </a:xfrm>
          <a:prstGeom prst="rect">
            <a:avLst/>
          </a:prstGeom>
          <a:noFill/>
          <a:ln w="0">
            <a:noFill/>
            <a:prstDash val="solid"/>
          </a:ln>
        </p:spPr>
        <p:txBody>
          <a:bodyPr lIns="0" tIns="0" rIns="0" bIns="0" anchor="t"/>
          <a:lstStyle/>
          <a:p>
            <a:pPr algn="l">
              <a:lnSpc>
                <a:spcPct val="115000"/>
              </a:lnSpc>
              <a:buNone/>
              <a:defRPr sz="1500" b="1">
                <a:solidFill>
                  <a:srgbClr val="111827"/>
                </a:solidFill>
                <a:latin typeface="Helvetica Neue"/>
                <a:ea typeface="Helvetica Neue"/>
                <a:cs typeface="Helvetica Neue"/>
              </a:defRPr>
            </a:pPr>
            <a:r>
              <a:rPr sz="1500" b="1">
                <a:solidFill>
                  <a:srgbClr val="111827"/>
                </a:solidFill>
                <a:latin typeface="Helvetica Neue"/>
                <a:ea typeface="Helvetica Neue"/>
                <a:cs typeface="Helvetica Neue"/>
              </a:rPr>
              <a:t>Core customer segment</a:t>
            </a:r>
          </a:p>
        </p:txBody>
      </p:sp>
      <p:sp>
        <p:nvSpPr>
          <p:cNvPr id="6" name="Rectangle 5">
            <a:extLst>
              <a:ext uri="{FF2B5EF4-FFF2-40B4-BE49-F238E27FC236}">
                <a16:creationId xmlns:a16="http://schemas.microsoft.com/office/drawing/2014/main" id="{2C39C899-65F3-4441-8628-3CA5CD5BC932}"/>
              </a:ext>
            </a:extLst>
          </p:cNvPr>
          <p:cNvSpPr>
            <a:spLocks noGrp="1"/>
          </p:cNvSpPr>
          <p:nvPr/>
        </p:nvSpPr>
        <p:spPr>
          <a:xfrm>
            <a:off x="7448550" y="2228850"/>
            <a:ext cx="3009900" cy="904875"/>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The hotel mainly serves couples or two-adult bookings, with fewer family bookings involving children.</a:t>
            </a:r>
          </a:p>
        </p:txBody>
      </p:sp>
      <p:sp>
        <p:nvSpPr>
          <p:cNvPr id="7" name="Rectangle: Rounded Corners 6">
            <a:extLst>
              <a:ext uri="{FF2B5EF4-FFF2-40B4-BE49-F238E27FC236}">
                <a16:creationId xmlns:a16="http://schemas.microsoft.com/office/drawing/2014/main" id="{655B785D-9AC8-43A5-9CE8-7ED319C395ED}"/>
              </a:ext>
            </a:extLst>
          </p:cNvPr>
          <p:cNvSpPr>
            <a:spLocks noGrp="1"/>
          </p:cNvSpPr>
          <p:nvPr/>
        </p:nvSpPr>
        <p:spPr>
          <a:xfrm>
            <a:off x="7239000" y="3600450"/>
            <a:ext cx="3429000" cy="1571625"/>
          </a:xfrm>
          <a:prstGeom prst="roundRect">
            <a:avLst>
              <a:gd name="adj" fmla="val 6061"/>
            </a:avLst>
          </a:prstGeom>
          <a:solidFill>
            <a:srgbClr val="F59E0B"/>
          </a:solidFill>
          <a:ln w="9525">
            <a:solidFill>
              <a:srgbClr val="E5E7EB"/>
            </a:solidFill>
            <a:prstDash val="solid"/>
          </a:ln>
        </p:spPr>
        <p:txBody>
          <a:bodyPr/>
          <a:lstStyle/>
          <a:p>
            <a:endParaRPr lang="en-US"/>
          </a:p>
        </p:txBody>
      </p:sp>
      <p:sp>
        <p:nvSpPr>
          <p:cNvPr id="8" name="Rectangle 7">
            <a:extLst>
              <a:ext uri="{FF2B5EF4-FFF2-40B4-BE49-F238E27FC236}">
                <a16:creationId xmlns:a16="http://schemas.microsoft.com/office/drawing/2014/main" id="{EF7B22BD-8442-419C-8692-2ACEB9E5656B}"/>
              </a:ext>
            </a:extLst>
          </p:cNvPr>
          <p:cNvSpPr>
            <a:spLocks noGrp="1"/>
          </p:cNvSpPr>
          <p:nvPr/>
        </p:nvSpPr>
        <p:spPr>
          <a:xfrm>
            <a:off x="7448550" y="3771900"/>
            <a:ext cx="3009900" cy="266700"/>
          </a:xfrm>
          <a:prstGeom prst="rect">
            <a:avLst/>
          </a:prstGeom>
          <a:noFill/>
          <a:ln w="0">
            <a:noFill/>
            <a:prstDash val="solid"/>
          </a:ln>
        </p:spPr>
        <p:txBody>
          <a:bodyPr lIns="0" tIns="0" rIns="0" bIns="0" anchor="t"/>
          <a:lstStyle/>
          <a:p>
            <a:pPr algn="l">
              <a:lnSpc>
                <a:spcPct val="11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Channel insight</a:t>
            </a:r>
          </a:p>
        </p:txBody>
      </p:sp>
      <p:sp>
        <p:nvSpPr>
          <p:cNvPr id="9" name="Rectangle 8">
            <a:extLst>
              <a:ext uri="{FF2B5EF4-FFF2-40B4-BE49-F238E27FC236}">
                <a16:creationId xmlns:a16="http://schemas.microsoft.com/office/drawing/2014/main" id="{50C3790D-D57C-4376-8F4B-99BE1C5F6F0A}"/>
              </a:ext>
            </a:extLst>
          </p:cNvPr>
          <p:cNvSpPr>
            <a:spLocks noGrp="1"/>
          </p:cNvSpPr>
          <p:nvPr/>
        </p:nvSpPr>
        <p:spPr>
          <a:xfrm>
            <a:off x="7448550" y="4133850"/>
            <a:ext cx="3009900" cy="904875"/>
          </a:xfrm>
          <a:prstGeom prst="rect">
            <a:avLst/>
          </a:prstGeom>
          <a:noFill/>
          <a:ln w="0">
            <a:noFill/>
            <a:prstDash val="solid"/>
          </a:ln>
        </p:spPr>
        <p:txBody>
          <a:bodyPr lIns="0" tIns="0" rIns="0" bIns="0" anchor="t"/>
          <a:lstStyle/>
          <a:p>
            <a:pPr algn="l">
              <a:lnSpc>
                <a:spcPct val="115000"/>
              </a:lnSpc>
              <a:buNone/>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Online booking channels are important because they represent a large share of customer demand.</a:t>
            </a:r>
          </a:p>
        </p:txBody>
      </p:sp>
      <p:sp>
        <p:nvSpPr>
          <p:cNvPr id="10" name="Rectangle 9">
            <a:extLst>
              <a:ext uri="{FF2B5EF4-FFF2-40B4-BE49-F238E27FC236}">
                <a16:creationId xmlns:a16="http://schemas.microsoft.com/office/drawing/2014/main" id="{7EC5D195-19ED-4D87-A4B2-6770534CBB02}"/>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1" name="Rectangle 10">
            <a:extLst>
              <a:ext uri="{FF2B5EF4-FFF2-40B4-BE49-F238E27FC236}">
                <a16:creationId xmlns:a16="http://schemas.microsoft.com/office/drawing/2014/main" id="{B080189A-640B-42FE-955A-74231115DD82}"/>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08</a:t>
            </a:r>
          </a:p>
        </p:txBody>
      </p:sp>
    </p:spTree>
    <p:extLst>
      <p:ext uri="{BB962C8B-B14F-4D97-AF65-F5344CB8AC3E}">
        <p14:creationId xmlns:p14="http://schemas.microsoft.com/office/powerpoint/2010/main" val="19298743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F38A6EE7-B7DC-4EF5-8833-FCEF154FF326}"/>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Lead Time and Cancellation Risk</a:t>
            </a:r>
          </a:p>
        </p:txBody>
      </p:sp>
      <p:sp>
        <p:nvSpPr>
          <p:cNvPr id="2" name="Rectangle 1">
            <a:extLst>
              <a:ext uri="{FF2B5EF4-FFF2-40B4-BE49-F238E27FC236}">
                <a16:creationId xmlns:a16="http://schemas.microsoft.com/office/drawing/2014/main" id="{5E2F5C5A-A3C9-471D-8175-71A07D0A35D5}"/>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B507182B-DE06-40DC-8AF6-75148663855E}"/>
              </a:ext>
            </a:extLst>
          </p:cNvPr>
          <p:cNvSpPr>
            <a:spLocks noGrp="1"/>
          </p:cNvSpPr>
          <p:nvPr/>
        </p:nvSpPr>
        <p:spPr>
          <a:xfrm>
            <a:off x="666750" y="1143000"/>
            <a:ext cx="8572500" cy="3048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Visual: Lead Time by Booking Status</a:t>
            </a:r>
          </a:p>
        </p:txBody>
      </p:sp>
      <p:pic>
        <p:nvPicPr>
          <p:cNvPr id="14" name="Picture 13"/>
          <p:cNvPicPr>
            <a:picLocks noChangeAspect="1"/>
          </p:cNvPicPr>
          <p:nvPr/>
        </p:nvPicPr>
        <p:blipFill>
          <a:blip r:embed="rId3"/>
          <a:stretch/>
        </p:blipFill>
        <p:spPr>
          <a:xfrm>
            <a:off x="666750" y="1619250"/>
            <a:ext cx="6362700" cy="4238625"/>
          </a:xfrm>
          <a:prstGeom prst="rect">
            <a:avLst/>
          </a:prstGeom>
        </p:spPr>
      </p:pic>
      <p:sp>
        <p:nvSpPr>
          <p:cNvPr id="5" name="Rectangle 4">
            <a:extLst>
              <a:ext uri="{FF2B5EF4-FFF2-40B4-BE49-F238E27FC236}">
                <a16:creationId xmlns:a16="http://schemas.microsoft.com/office/drawing/2014/main" id="{F9B4C56F-355A-419E-BFFC-FC221968C5FA}"/>
              </a:ext>
            </a:extLst>
          </p:cNvPr>
          <p:cNvSpPr>
            <a:spLocks noGrp="1"/>
          </p:cNvSpPr>
          <p:nvPr/>
        </p:nvSpPr>
        <p:spPr>
          <a:xfrm>
            <a:off x="7429500" y="1666875"/>
            <a:ext cx="3429000" cy="2333625"/>
          </a:xfrm>
          <a:prstGeom prst="rect">
            <a:avLst/>
          </a:prstGeom>
          <a:noFill/>
          <a:ln w="0">
            <a:noFill/>
            <a:prstDash val="solid"/>
          </a:ln>
        </p:spPr>
        <p:txBody>
          <a:bodyPr lIns="0" tIns="0" rIns="76200" bIns="0"/>
          <a:lstStyle/>
          <a:p>
            <a:pPr marL="24" indent="-14">
              <a:lnSpc>
                <a:spcPct val="112000"/>
              </a:lnSpc>
              <a:spcAft>
                <a:spcPts val="12"/>
              </a:spcAft>
              <a:buNone/>
              <a:defRPr sz="1575">
                <a:solidFill>
                  <a:srgbClr val="111827"/>
                </a:solidFill>
                <a:latin typeface="Helvetica Neue"/>
                <a:ea typeface="Helvetica Neue"/>
                <a:cs typeface="Helvetica Neue"/>
              </a:defRPr>
            </a:pPr>
            <a:r>
              <a:rPr sz="1575" dirty="0">
                <a:solidFill>
                  <a:srgbClr val="111827"/>
                </a:solidFill>
                <a:latin typeface="Helvetica Neue"/>
                <a:ea typeface="Helvetica Neue"/>
                <a:cs typeface="Helvetica Neue"/>
              </a:rPr>
              <a:t>Customers with longer lead times were more likely to cancel</a:t>
            </a:r>
          </a:p>
          <a:p>
            <a:pPr marL="24" indent="-14">
              <a:lnSpc>
                <a:spcPct val="112000"/>
              </a:lnSpc>
              <a:spcAft>
                <a:spcPts val="12"/>
              </a:spcAft>
              <a:buNone/>
              <a:defRPr sz="1575">
                <a:solidFill>
                  <a:srgbClr val="111827"/>
                </a:solidFill>
                <a:latin typeface="Helvetica Neue"/>
                <a:ea typeface="Helvetica Neue"/>
                <a:cs typeface="Helvetica Neue"/>
              </a:defRPr>
            </a:pPr>
            <a:r>
              <a:rPr sz="1575" dirty="0">
                <a:solidFill>
                  <a:srgbClr val="111827"/>
                </a:solidFill>
                <a:latin typeface="Helvetica Neue"/>
                <a:ea typeface="Helvetica Neue"/>
                <a:cs typeface="Helvetica Neue"/>
              </a:rPr>
              <a:t>Short lead-time bookings were more reliable</a:t>
            </a:r>
          </a:p>
          <a:p>
            <a:pPr marL="24" indent="-14">
              <a:lnSpc>
                <a:spcPct val="112000"/>
              </a:lnSpc>
              <a:spcAft>
                <a:spcPts val="12"/>
              </a:spcAft>
              <a:buNone/>
              <a:defRPr sz="1575">
                <a:solidFill>
                  <a:srgbClr val="111827"/>
                </a:solidFill>
                <a:latin typeface="Helvetica Neue"/>
                <a:ea typeface="Helvetica Neue"/>
                <a:cs typeface="Helvetica Neue"/>
              </a:defRPr>
            </a:pPr>
            <a:r>
              <a:rPr sz="1575" dirty="0">
                <a:solidFill>
                  <a:srgbClr val="111827"/>
                </a:solidFill>
                <a:latin typeface="Helvetica Neue"/>
                <a:ea typeface="Helvetica Neue"/>
                <a:cs typeface="Helvetica Neue"/>
              </a:rPr>
              <a:t>Cancellation risk increased when bookings were made far in advance</a:t>
            </a:r>
          </a:p>
        </p:txBody>
      </p:sp>
      <p:sp>
        <p:nvSpPr>
          <p:cNvPr id="6" name="Rectangle: Rounded Corners 5">
            <a:extLst>
              <a:ext uri="{FF2B5EF4-FFF2-40B4-BE49-F238E27FC236}">
                <a16:creationId xmlns:a16="http://schemas.microsoft.com/office/drawing/2014/main" id="{149F2BCA-C9BB-4BE5-9825-871881A3EB9C}"/>
              </a:ext>
            </a:extLst>
          </p:cNvPr>
          <p:cNvSpPr>
            <a:spLocks noGrp="1"/>
          </p:cNvSpPr>
          <p:nvPr/>
        </p:nvSpPr>
        <p:spPr>
          <a:xfrm>
            <a:off x="7429500" y="4286250"/>
            <a:ext cx="3429000" cy="1428750"/>
          </a:xfrm>
          <a:prstGeom prst="roundRect">
            <a:avLst>
              <a:gd name="adj" fmla="val 7692"/>
            </a:avLst>
          </a:prstGeom>
          <a:solidFill>
            <a:srgbClr val="F59E0B"/>
          </a:solidFill>
          <a:ln w="9525">
            <a:solidFill>
              <a:srgbClr val="E5E7EB"/>
            </a:solidFill>
            <a:prstDash val="solid"/>
          </a:ln>
        </p:spPr>
        <p:txBody>
          <a:bodyPr/>
          <a:lstStyle/>
          <a:p>
            <a:endParaRPr lang="en-US"/>
          </a:p>
        </p:txBody>
      </p:sp>
      <p:sp>
        <p:nvSpPr>
          <p:cNvPr id="7" name="Rectangle 6">
            <a:extLst>
              <a:ext uri="{FF2B5EF4-FFF2-40B4-BE49-F238E27FC236}">
                <a16:creationId xmlns:a16="http://schemas.microsoft.com/office/drawing/2014/main" id="{E9B6778E-02FF-409F-B8A0-E9B8FB9D6C7A}"/>
              </a:ext>
            </a:extLst>
          </p:cNvPr>
          <p:cNvSpPr>
            <a:spLocks noGrp="1"/>
          </p:cNvSpPr>
          <p:nvPr/>
        </p:nvSpPr>
        <p:spPr>
          <a:xfrm>
            <a:off x="7639050" y="4457700"/>
            <a:ext cx="3009900" cy="266700"/>
          </a:xfrm>
          <a:prstGeom prst="rect">
            <a:avLst/>
          </a:prstGeom>
          <a:noFill/>
          <a:ln w="0">
            <a:noFill/>
            <a:prstDash val="solid"/>
          </a:ln>
        </p:spPr>
        <p:txBody>
          <a:bodyPr lIns="0" tIns="0" rIns="0" bIns="0" anchor="t"/>
          <a:lstStyle/>
          <a:p>
            <a:pPr algn="l">
              <a:lnSpc>
                <a:spcPct val="11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Key insight</a:t>
            </a:r>
          </a:p>
        </p:txBody>
      </p:sp>
      <p:sp>
        <p:nvSpPr>
          <p:cNvPr id="8" name="Rectangle 7">
            <a:extLst>
              <a:ext uri="{FF2B5EF4-FFF2-40B4-BE49-F238E27FC236}">
                <a16:creationId xmlns:a16="http://schemas.microsoft.com/office/drawing/2014/main" id="{5286F3CB-A84E-44DA-8980-3D134608F765}"/>
              </a:ext>
            </a:extLst>
          </p:cNvPr>
          <p:cNvSpPr>
            <a:spLocks noGrp="1"/>
          </p:cNvSpPr>
          <p:nvPr/>
        </p:nvSpPr>
        <p:spPr>
          <a:xfrm>
            <a:off x="7639050" y="4819650"/>
            <a:ext cx="3009900" cy="571500"/>
          </a:xfrm>
          <a:prstGeom prst="rect">
            <a:avLst/>
          </a:prstGeom>
          <a:noFill/>
          <a:ln w="0">
            <a:noFill/>
            <a:prstDash val="solid"/>
          </a:ln>
        </p:spPr>
        <p:txBody>
          <a:bodyPr lIns="0" tIns="0" rIns="0" bIns="0" anchor="t"/>
          <a:lstStyle/>
          <a:p>
            <a:pPr algn="l">
              <a:lnSpc>
                <a:spcPct val="115000"/>
              </a:lnSpc>
              <a:buNone/>
              <a:defRPr sz="1350" b="0">
                <a:solidFill>
                  <a:srgbClr val="FFFFFF"/>
                </a:solidFill>
                <a:latin typeface="Helvetica Neue"/>
                <a:ea typeface="Helvetica Neue"/>
                <a:cs typeface="Helvetica Neue"/>
              </a:defRPr>
            </a:pPr>
            <a:r>
              <a:rPr sz="1350" b="0" dirty="0">
                <a:solidFill>
                  <a:srgbClr val="FFFFFF"/>
                </a:solidFill>
                <a:latin typeface="Helvetica Neue"/>
                <a:ea typeface="Helvetica Neue"/>
                <a:cs typeface="Helvetica Neue"/>
              </a:rPr>
              <a:t>Cancellation risk is strongly linked to when customers book, not only who they are or how much they pay.</a:t>
            </a:r>
          </a:p>
        </p:txBody>
      </p:sp>
      <p:sp>
        <p:nvSpPr>
          <p:cNvPr id="9" name="Rectangle 8">
            <a:extLst>
              <a:ext uri="{FF2B5EF4-FFF2-40B4-BE49-F238E27FC236}">
                <a16:creationId xmlns:a16="http://schemas.microsoft.com/office/drawing/2014/main" id="{CCDB893B-1D60-43D0-8E8E-55259233DCB3}"/>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0" name="Rectangle 9">
            <a:extLst>
              <a:ext uri="{FF2B5EF4-FFF2-40B4-BE49-F238E27FC236}">
                <a16:creationId xmlns:a16="http://schemas.microsoft.com/office/drawing/2014/main" id="{A6898FC9-5156-4121-A6E9-829361DE59EF}"/>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09</a:t>
            </a:r>
          </a:p>
        </p:txBody>
      </p:sp>
    </p:spTree>
    <p:extLst>
      <p:ext uri="{BB962C8B-B14F-4D97-AF65-F5344CB8AC3E}">
        <p14:creationId xmlns:p14="http://schemas.microsoft.com/office/powerpoint/2010/main" val="15809547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CF19F3-7D87-4E60-92BB-FDAE22DF6814}"/>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Seasonal Booking Trend</a:t>
            </a:r>
          </a:p>
        </p:txBody>
      </p:sp>
      <p:sp>
        <p:nvSpPr>
          <p:cNvPr id="2" name="Rectangle 1">
            <a:extLst>
              <a:ext uri="{FF2B5EF4-FFF2-40B4-BE49-F238E27FC236}">
                <a16:creationId xmlns:a16="http://schemas.microsoft.com/office/drawing/2014/main" id="{F149272F-8033-4A26-9206-D57EE84AB323}"/>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33683F91-B6B6-42B8-8CD1-A5FF6660330B}"/>
              </a:ext>
            </a:extLst>
          </p:cNvPr>
          <p:cNvSpPr>
            <a:spLocks noGrp="1"/>
          </p:cNvSpPr>
          <p:nvPr/>
        </p:nvSpPr>
        <p:spPr>
          <a:xfrm>
            <a:off x="666750" y="1143000"/>
            <a:ext cx="8572500" cy="3048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Visual: Monthly Distribution of Hotel Bookings</a:t>
            </a:r>
          </a:p>
        </p:txBody>
      </p:sp>
      <p:pic>
        <p:nvPicPr>
          <p:cNvPr id="12" name="Picture 11"/>
          <p:cNvPicPr>
            <a:picLocks noChangeAspect="1"/>
          </p:cNvPicPr>
          <p:nvPr/>
        </p:nvPicPr>
        <p:blipFill>
          <a:blip r:embed="rId3"/>
          <a:stretch/>
        </p:blipFill>
        <p:spPr>
          <a:xfrm>
            <a:off x="0" y="1619250"/>
            <a:ext cx="7905750" cy="4714875"/>
          </a:xfrm>
          <a:prstGeom prst="rect">
            <a:avLst/>
          </a:prstGeom>
        </p:spPr>
      </p:pic>
      <p:sp>
        <p:nvSpPr>
          <p:cNvPr id="5" name="Rectangle 4">
            <a:extLst>
              <a:ext uri="{FF2B5EF4-FFF2-40B4-BE49-F238E27FC236}">
                <a16:creationId xmlns:a16="http://schemas.microsoft.com/office/drawing/2014/main" id="{8C30B63F-8B59-4434-B5F1-0CAE6BA8C5D0}"/>
              </a:ext>
            </a:extLst>
          </p:cNvPr>
          <p:cNvSpPr>
            <a:spLocks noGrp="1"/>
          </p:cNvSpPr>
          <p:nvPr/>
        </p:nvSpPr>
        <p:spPr>
          <a:xfrm>
            <a:off x="7905750" y="1714500"/>
            <a:ext cx="3238500" cy="2476500"/>
          </a:xfrm>
          <a:prstGeom prst="rect">
            <a:avLst/>
          </a:prstGeom>
          <a:noFill/>
          <a:ln w="0">
            <a:noFill/>
            <a:prstDash val="solid"/>
          </a:ln>
        </p:spPr>
        <p:txBody>
          <a:bodyPr lIns="0" tIns="0" rIns="76200" bIns="0"/>
          <a:lstStyle/>
          <a:p>
            <a:pPr marL="24" indent="-14">
              <a:lnSpc>
                <a:spcPct val="112000"/>
              </a:lnSpc>
              <a:spcAft>
                <a:spcPts val="12"/>
              </a:spcAft>
              <a:buNone/>
              <a:defRPr sz="1575">
                <a:solidFill>
                  <a:srgbClr val="111827"/>
                </a:solidFill>
                <a:latin typeface="Helvetica Neue"/>
                <a:ea typeface="Helvetica Neue"/>
                <a:cs typeface="Helvetica Neue"/>
              </a:defRPr>
            </a:pPr>
            <a:r>
              <a:rPr sz="1575" dirty="0">
                <a:solidFill>
                  <a:srgbClr val="111827"/>
                </a:solidFill>
                <a:latin typeface="Helvetica Neue"/>
                <a:ea typeface="Helvetica Neue"/>
                <a:cs typeface="Helvetica Neue"/>
              </a:rPr>
              <a:t>Bookings were lowest in January</a:t>
            </a:r>
          </a:p>
          <a:p>
            <a:pPr marL="24" indent="-14">
              <a:lnSpc>
                <a:spcPct val="112000"/>
              </a:lnSpc>
              <a:spcAft>
                <a:spcPts val="12"/>
              </a:spcAft>
              <a:buNone/>
              <a:defRPr sz="1575">
                <a:solidFill>
                  <a:srgbClr val="111827"/>
                </a:solidFill>
                <a:latin typeface="Helvetica Neue"/>
                <a:ea typeface="Helvetica Neue"/>
                <a:cs typeface="Helvetica Neue"/>
              </a:defRPr>
            </a:pPr>
            <a:r>
              <a:rPr sz="1575" dirty="0">
                <a:solidFill>
                  <a:srgbClr val="111827"/>
                </a:solidFill>
                <a:latin typeface="Helvetica Neue"/>
                <a:ea typeface="Helvetica Neue"/>
                <a:cs typeface="Helvetica Neue"/>
              </a:rPr>
              <a:t>Bookings increased steadily through the year</a:t>
            </a:r>
          </a:p>
          <a:p>
            <a:pPr marL="24" indent="-14">
              <a:lnSpc>
                <a:spcPct val="112000"/>
              </a:lnSpc>
              <a:spcAft>
                <a:spcPts val="12"/>
              </a:spcAft>
              <a:buNone/>
              <a:defRPr sz="1575">
                <a:solidFill>
                  <a:srgbClr val="111827"/>
                </a:solidFill>
                <a:latin typeface="Helvetica Neue"/>
                <a:ea typeface="Helvetica Neue"/>
                <a:cs typeface="Helvetica Neue"/>
              </a:defRPr>
            </a:pPr>
            <a:r>
              <a:rPr sz="1575" dirty="0">
                <a:solidFill>
                  <a:srgbClr val="111827"/>
                </a:solidFill>
                <a:latin typeface="Helvetica Neue"/>
                <a:ea typeface="Helvetica Neue"/>
                <a:cs typeface="Helvetica Neue"/>
              </a:rPr>
              <a:t>October had the highest booking volume</a:t>
            </a:r>
          </a:p>
          <a:p>
            <a:pPr marL="24" indent="-14">
              <a:lnSpc>
                <a:spcPct val="112000"/>
              </a:lnSpc>
              <a:spcAft>
                <a:spcPts val="12"/>
              </a:spcAft>
              <a:buNone/>
              <a:defRPr sz="1575">
                <a:solidFill>
                  <a:srgbClr val="111827"/>
                </a:solidFill>
                <a:latin typeface="Helvetica Neue"/>
                <a:ea typeface="Helvetica Neue"/>
                <a:cs typeface="Helvetica Neue"/>
              </a:defRPr>
            </a:pPr>
            <a:r>
              <a:rPr sz="1575" dirty="0">
                <a:solidFill>
                  <a:srgbClr val="111827"/>
                </a:solidFill>
                <a:latin typeface="Helvetica Neue"/>
                <a:ea typeface="Helvetica Neue"/>
                <a:cs typeface="Helvetica Neue"/>
              </a:rPr>
              <a:t>Demand was stronger between August and October</a:t>
            </a:r>
          </a:p>
        </p:txBody>
      </p:sp>
      <p:sp>
        <p:nvSpPr>
          <p:cNvPr id="6" name="Rectangle 5">
            <a:extLst>
              <a:ext uri="{FF2B5EF4-FFF2-40B4-BE49-F238E27FC236}">
                <a16:creationId xmlns:a16="http://schemas.microsoft.com/office/drawing/2014/main" id="{91314D38-E431-4913-8C9B-64D7D09AE283}"/>
              </a:ext>
            </a:extLst>
          </p:cNvPr>
          <p:cNvSpPr>
            <a:spLocks noGrp="1"/>
          </p:cNvSpPr>
          <p:nvPr/>
        </p:nvSpPr>
        <p:spPr>
          <a:xfrm>
            <a:off x="7905750" y="4619625"/>
            <a:ext cx="3143250" cy="819150"/>
          </a:xfrm>
          <a:prstGeom prst="rect">
            <a:avLst/>
          </a:prstGeom>
          <a:noFill/>
          <a:ln w="0">
            <a:noFill/>
            <a:prstDash val="solid"/>
          </a:ln>
        </p:spPr>
        <p:txBody>
          <a:bodyPr lIns="0" tIns="0" rIns="0" bIns="0" anchor="t"/>
          <a:lstStyle/>
          <a:p>
            <a:pPr algn="l">
              <a:lnSpc>
                <a:spcPct val="115000"/>
              </a:lnSpc>
              <a:buNone/>
              <a:defRPr sz="1425" b="0">
                <a:solidFill>
                  <a:srgbClr val="4B5563"/>
                </a:solidFill>
                <a:latin typeface="Helvetica Neue"/>
                <a:ea typeface="Helvetica Neue"/>
                <a:cs typeface="Helvetica Neue"/>
              </a:defRPr>
            </a:pPr>
            <a:r>
              <a:rPr sz="1425" b="0" dirty="0">
                <a:solidFill>
                  <a:srgbClr val="4B5563"/>
                </a:solidFill>
                <a:latin typeface="Helvetica Neue"/>
                <a:ea typeface="Helvetica Neue"/>
                <a:cs typeface="Helvetica Neue"/>
              </a:rPr>
              <a:t>Seasonal patterns can support pricing, staffing, promotions, and room availability planning.</a:t>
            </a:r>
          </a:p>
        </p:txBody>
      </p:sp>
      <p:sp>
        <p:nvSpPr>
          <p:cNvPr id="7" name="Rectangle 6">
            <a:extLst>
              <a:ext uri="{FF2B5EF4-FFF2-40B4-BE49-F238E27FC236}">
                <a16:creationId xmlns:a16="http://schemas.microsoft.com/office/drawing/2014/main" id="{E9F2BD25-0238-44C1-8F2C-98989BE7CCD3}"/>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8" name="Rectangle 7">
            <a:extLst>
              <a:ext uri="{FF2B5EF4-FFF2-40B4-BE49-F238E27FC236}">
                <a16:creationId xmlns:a16="http://schemas.microsoft.com/office/drawing/2014/main" id="{8EA4E58F-6D9F-40DE-A365-337E75AFD56E}"/>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10</a:t>
            </a:r>
          </a:p>
        </p:txBody>
      </p:sp>
    </p:spTree>
    <p:extLst>
      <p:ext uri="{BB962C8B-B14F-4D97-AF65-F5344CB8AC3E}">
        <p14:creationId xmlns:p14="http://schemas.microsoft.com/office/powerpoint/2010/main" val="9727667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F2382C6-B273-44E1-9250-3A23B9372BA2}"/>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Revenue and Market Segment Insights</a:t>
            </a:r>
          </a:p>
        </p:txBody>
      </p:sp>
      <p:sp>
        <p:nvSpPr>
          <p:cNvPr id="2" name="Rectangle 1">
            <a:extLst>
              <a:ext uri="{FF2B5EF4-FFF2-40B4-BE49-F238E27FC236}">
                <a16:creationId xmlns:a16="http://schemas.microsoft.com/office/drawing/2014/main" id="{27A58721-6257-4435-9B8A-FF3382AF6DC5}"/>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319C765D-BECE-420F-B979-B9158E8BB35F}"/>
              </a:ext>
            </a:extLst>
          </p:cNvPr>
          <p:cNvSpPr>
            <a:spLocks noGrp="1"/>
          </p:cNvSpPr>
          <p:nvPr/>
        </p:nvSpPr>
        <p:spPr>
          <a:xfrm>
            <a:off x="666750" y="1143000"/>
            <a:ext cx="8572500" cy="3048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Visual: Average Price by Market Segment</a:t>
            </a:r>
          </a:p>
        </p:txBody>
      </p:sp>
      <p:pic>
        <p:nvPicPr>
          <p:cNvPr id="14" name="Picture 13"/>
          <p:cNvPicPr>
            <a:picLocks noChangeAspect="1"/>
          </p:cNvPicPr>
          <p:nvPr/>
        </p:nvPicPr>
        <p:blipFill>
          <a:blip r:embed="rId3"/>
          <a:stretch/>
        </p:blipFill>
        <p:spPr>
          <a:xfrm>
            <a:off x="0" y="1571624"/>
            <a:ext cx="7905135" cy="4762499"/>
          </a:xfrm>
          <a:prstGeom prst="rect">
            <a:avLst/>
          </a:prstGeom>
        </p:spPr>
      </p:pic>
      <p:sp>
        <p:nvSpPr>
          <p:cNvPr id="5" name="Rectangle 4">
            <a:extLst>
              <a:ext uri="{FF2B5EF4-FFF2-40B4-BE49-F238E27FC236}">
                <a16:creationId xmlns:a16="http://schemas.microsoft.com/office/drawing/2014/main" id="{7FC24769-9A25-4BFE-B9C4-F23F490647A5}"/>
              </a:ext>
            </a:extLst>
          </p:cNvPr>
          <p:cNvSpPr>
            <a:spLocks noGrp="1"/>
          </p:cNvSpPr>
          <p:nvPr/>
        </p:nvSpPr>
        <p:spPr>
          <a:xfrm>
            <a:off x="8020050" y="1714500"/>
            <a:ext cx="3143250" cy="2476500"/>
          </a:xfrm>
          <a:prstGeom prst="rect">
            <a:avLst/>
          </a:prstGeom>
          <a:noFill/>
          <a:ln w="0">
            <a:noFill/>
            <a:prstDash val="solid"/>
          </a:ln>
        </p:spPr>
        <p:txBody>
          <a:bodyPr lIns="0" tIns="0" rIns="76200" bIns="0"/>
          <a:lstStyle/>
          <a:p>
            <a:pPr marL="24" indent="-14">
              <a:lnSpc>
                <a:spcPct val="112000"/>
              </a:lnSpc>
              <a:spcAft>
                <a:spcPts val="12"/>
              </a:spcAft>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Online bookings had the highest average price</a:t>
            </a:r>
          </a:p>
          <a:p>
            <a:pPr marL="24" indent="-14">
              <a:lnSpc>
                <a:spcPct val="112000"/>
              </a:lnSpc>
              <a:spcAft>
                <a:spcPts val="12"/>
              </a:spcAft>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Corporate bookings had lower negotiated rates</a:t>
            </a:r>
          </a:p>
          <a:p>
            <a:pPr marL="24" indent="-14">
              <a:lnSpc>
                <a:spcPct val="112000"/>
              </a:lnSpc>
              <a:spcAft>
                <a:spcPts val="12"/>
              </a:spcAft>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Premium channels can support revenue growth</a:t>
            </a:r>
          </a:p>
          <a:p>
            <a:pPr marL="24" indent="-14">
              <a:lnSpc>
                <a:spcPct val="112000"/>
              </a:lnSpc>
              <a:spcAft>
                <a:spcPts val="12"/>
              </a:spcAft>
              <a:buNone/>
              <a:defRPr sz="1575">
                <a:solidFill>
                  <a:srgbClr val="111827"/>
                </a:solidFill>
                <a:latin typeface="Helvetica Neue"/>
                <a:ea typeface="Helvetica Neue"/>
                <a:cs typeface="Helvetica Neue"/>
              </a:defRPr>
            </a:pPr>
            <a:r>
              <a:rPr sz="1575">
                <a:solidFill>
                  <a:srgbClr val="111827"/>
                </a:solidFill>
                <a:latin typeface="Helvetica Neue"/>
                <a:ea typeface="Helvetica Neue"/>
                <a:cs typeface="Helvetica Neue"/>
              </a:rPr>
              <a:t>Complementary bookings contributed the lowest revenue</a:t>
            </a:r>
          </a:p>
        </p:txBody>
      </p:sp>
      <p:sp>
        <p:nvSpPr>
          <p:cNvPr id="6" name="Rectangle: Rounded Corners 5">
            <a:extLst>
              <a:ext uri="{FF2B5EF4-FFF2-40B4-BE49-F238E27FC236}">
                <a16:creationId xmlns:a16="http://schemas.microsoft.com/office/drawing/2014/main" id="{EC359066-0EBF-48BF-8BF2-92C1D58F1D9A}"/>
              </a:ext>
            </a:extLst>
          </p:cNvPr>
          <p:cNvSpPr>
            <a:spLocks noGrp="1"/>
          </p:cNvSpPr>
          <p:nvPr/>
        </p:nvSpPr>
        <p:spPr>
          <a:xfrm>
            <a:off x="8020050" y="4476750"/>
            <a:ext cx="3143250" cy="1238250"/>
          </a:xfrm>
          <a:prstGeom prst="roundRect">
            <a:avLst>
              <a:gd name="adj" fmla="val 9091"/>
            </a:avLst>
          </a:prstGeom>
          <a:solidFill>
            <a:srgbClr val="F59E0B"/>
          </a:solidFill>
          <a:ln w="9525">
            <a:solidFill>
              <a:srgbClr val="E5E7EB"/>
            </a:solidFill>
            <a:prstDash val="solid"/>
          </a:ln>
        </p:spPr>
        <p:txBody>
          <a:bodyPr/>
          <a:lstStyle/>
          <a:p>
            <a:endParaRPr lang="en-US"/>
          </a:p>
        </p:txBody>
      </p:sp>
      <p:sp>
        <p:nvSpPr>
          <p:cNvPr id="7" name="Rectangle 6">
            <a:extLst>
              <a:ext uri="{FF2B5EF4-FFF2-40B4-BE49-F238E27FC236}">
                <a16:creationId xmlns:a16="http://schemas.microsoft.com/office/drawing/2014/main" id="{8E78B7D2-6A2B-495F-9864-B2EB0B841EE7}"/>
              </a:ext>
            </a:extLst>
          </p:cNvPr>
          <p:cNvSpPr>
            <a:spLocks noGrp="1"/>
          </p:cNvSpPr>
          <p:nvPr/>
        </p:nvSpPr>
        <p:spPr>
          <a:xfrm>
            <a:off x="8229600" y="4648200"/>
            <a:ext cx="2724150" cy="266700"/>
          </a:xfrm>
          <a:prstGeom prst="rect">
            <a:avLst/>
          </a:prstGeom>
          <a:noFill/>
          <a:ln w="0">
            <a:noFill/>
            <a:prstDash val="solid"/>
          </a:ln>
        </p:spPr>
        <p:txBody>
          <a:bodyPr lIns="0" tIns="0" rIns="0" bIns="0" anchor="t"/>
          <a:lstStyle/>
          <a:p>
            <a:pPr algn="l">
              <a:lnSpc>
                <a:spcPct val="115000"/>
              </a:lnSpc>
              <a:buNone/>
              <a:defRPr sz="1500" b="1">
                <a:solidFill>
                  <a:srgbClr val="FFFFFF"/>
                </a:solidFill>
                <a:latin typeface="Helvetica Neue"/>
                <a:ea typeface="Helvetica Neue"/>
                <a:cs typeface="Helvetica Neue"/>
              </a:defRPr>
            </a:pPr>
            <a:r>
              <a:rPr sz="1500" b="1">
                <a:solidFill>
                  <a:srgbClr val="FFFFFF"/>
                </a:solidFill>
                <a:latin typeface="Helvetica Neue"/>
                <a:ea typeface="Helvetica Neue"/>
                <a:cs typeface="Helvetica Neue"/>
              </a:rPr>
              <a:t>Revenue opportunity</a:t>
            </a:r>
          </a:p>
        </p:txBody>
      </p:sp>
      <p:sp>
        <p:nvSpPr>
          <p:cNvPr id="8" name="Rectangle 7">
            <a:extLst>
              <a:ext uri="{FF2B5EF4-FFF2-40B4-BE49-F238E27FC236}">
                <a16:creationId xmlns:a16="http://schemas.microsoft.com/office/drawing/2014/main" id="{53138B5B-9036-485B-8B29-468CC7F6E9EE}"/>
              </a:ext>
            </a:extLst>
          </p:cNvPr>
          <p:cNvSpPr>
            <a:spLocks noGrp="1"/>
          </p:cNvSpPr>
          <p:nvPr/>
        </p:nvSpPr>
        <p:spPr>
          <a:xfrm>
            <a:off x="8229600" y="5010150"/>
            <a:ext cx="2724150" cy="381000"/>
          </a:xfrm>
          <a:prstGeom prst="rect">
            <a:avLst/>
          </a:prstGeom>
          <a:noFill/>
          <a:ln w="0">
            <a:noFill/>
            <a:prstDash val="solid"/>
          </a:ln>
        </p:spPr>
        <p:txBody>
          <a:bodyPr lIns="0" tIns="0" rIns="0" bIns="0" anchor="t"/>
          <a:lstStyle/>
          <a:p>
            <a:pPr algn="l">
              <a:lnSpc>
                <a:spcPct val="115000"/>
              </a:lnSpc>
              <a:buNone/>
              <a:defRPr sz="1350" b="0">
                <a:solidFill>
                  <a:srgbClr val="FFFFFF"/>
                </a:solidFill>
                <a:latin typeface="Helvetica Neue"/>
                <a:ea typeface="Helvetica Neue"/>
                <a:cs typeface="Helvetica Neue"/>
              </a:defRPr>
            </a:pPr>
            <a:r>
              <a:rPr sz="1350" b="0" dirty="0">
                <a:solidFill>
                  <a:srgbClr val="FFFFFF"/>
                </a:solidFill>
                <a:latin typeface="Helvetica Neue"/>
                <a:ea typeface="Helvetica Neue"/>
                <a:cs typeface="Helvetica Neue"/>
              </a:rPr>
              <a:t>Strengthen online booking strategy while carefully managing low-revenue segments.</a:t>
            </a:r>
          </a:p>
        </p:txBody>
      </p:sp>
      <p:sp>
        <p:nvSpPr>
          <p:cNvPr id="9" name="Rectangle 8">
            <a:extLst>
              <a:ext uri="{FF2B5EF4-FFF2-40B4-BE49-F238E27FC236}">
                <a16:creationId xmlns:a16="http://schemas.microsoft.com/office/drawing/2014/main" id="{2C8C3775-C727-468B-922C-F6317510C0DD}"/>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0" name="Rectangle 9">
            <a:extLst>
              <a:ext uri="{FF2B5EF4-FFF2-40B4-BE49-F238E27FC236}">
                <a16:creationId xmlns:a16="http://schemas.microsoft.com/office/drawing/2014/main" id="{36A765BA-54E1-4717-9393-268AD38641B8}"/>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11</a:t>
            </a:r>
          </a:p>
        </p:txBody>
      </p:sp>
    </p:spTree>
    <p:extLst>
      <p:ext uri="{BB962C8B-B14F-4D97-AF65-F5344CB8AC3E}">
        <p14:creationId xmlns:p14="http://schemas.microsoft.com/office/powerpoint/2010/main" val="1989211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8B0E836-2531-4B76-8ECD-248F6B6B609C}"/>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dirty="0">
                <a:solidFill>
                  <a:srgbClr val="111827"/>
                </a:solidFill>
                <a:latin typeface="Helvetica Neue"/>
                <a:ea typeface="Helvetica Neue"/>
                <a:cs typeface="Helvetica Neue"/>
              </a:rPr>
              <a:t>Correlation and Multivariate Insights</a:t>
            </a:r>
          </a:p>
        </p:txBody>
      </p:sp>
      <p:sp>
        <p:nvSpPr>
          <p:cNvPr id="2" name="Rectangle 1">
            <a:extLst>
              <a:ext uri="{FF2B5EF4-FFF2-40B4-BE49-F238E27FC236}">
                <a16:creationId xmlns:a16="http://schemas.microsoft.com/office/drawing/2014/main" id="{0D88B5AB-6A0F-4BEF-8A35-6FE1B2E1582B}"/>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E632211D-9125-4DA7-AF06-AE6741B0DFD4}"/>
              </a:ext>
            </a:extLst>
          </p:cNvPr>
          <p:cNvSpPr>
            <a:spLocks noGrp="1"/>
          </p:cNvSpPr>
          <p:nvPr/>
        </p:nvSpPr>
        <p:spPr>
          <a:xfrm>
            <a:off x="666750" y="1143000"/>
            <a:ext cx="8572500" cy="3048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dirty="0">
                <a:solidFill>
                  <a:srgbClr val="4B5563"/>
                </a:solidFill>
                <a:latin typeface="Helvetica Neue"/>
                <a:ea typeface="Helvetica Neue"/>
                <a:cs typeface="Helvetica Neue"/>
              </a:rPr>
              <a:t>Correlation Between Numeric Variables (Heat Map)</a:t>
            </a:r>
          </a:p>
        </p:txBody>
      </p:sp>
      <p:pic>
        <p:nvPicPr>
          <p:cNvPr id="12" name="Picture 11"/>
          <p:cNvPicPr>
            <a:picLocks noChangeAspect="1"/>
          </p:cNvPicPr>
          <p:nvPr/>
        </p:nvPicPr>
        <p:blipFill>
          <a:blip r:embed="rId3"/>
          <a:stretch/>
        </p:blipFill>
        <p:spPr>
          <a:xfrm>
            <a:off x="1" y="1447800"/>
            <a:ext cx="8858250" cy="4933950"/>
          </a:xfrm>
          <a:prstGeom prst="rect">
            <a:avLst/>
          </a:prstGeom>
        </p:spPr>
      </p:pic>
      <p:sp>
        <p:nvSpPr>
          <p:cNvPr id="5" name="Rectangle 4">
            <a:extLst>
              <a:ext uri="{FF2B5EF4-FFF2-40B4-BE49-F238E27FC236}">
                <a16:creationId xmlns:a16="http://schemas.microsoft.com/office/drawing/2014/main" id="{E7473379-548D-42EF-8A8D-2961DF18E7C0}"/>
              </a:ext>
            </a:extLst>
          </p:cNvPr>
          <p:cNvSpPr>
            <a:spLocks noGrp="1"/>
          </p:cNvSpPr>
          <p:nvPr/>
        </p:nvSpPr>
        <p:spPr>
          <a:xfrm>
            <a:off x="8858250" y="1628468"/>
            <a:ext cx="3333750" cy="3048000"/>
          </a:xfrm>
          <a:prstGeom prst="rect">
            <a:avLst/>
          </a:prstGeom>
          <a:noFill/>
          <a:ln w="0">
            <a:noFill/>
            <a:prstDash val="solid"/>
          </a:ln>
        </p:spPr>
        <p:txBody>
          <a:bodyPr lIns="0" tIns="0" rIns="76200" bIns="0"/>
          <a:lstStyle/>
          <a:p>
            <a:pPr marL="24" indent="-14">
              <a:lnSpc>
                <a:spcPct val="112000"/>
              </a:lnSpc>
              <a:spcAft>
                <a:spcPts val="12"/>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Repeat guests were strongly linked with previous successful bookings</a:t>
            </a:r>
          </a:p>
          <a:p>
            <a:pPr marL="24" indent="-14">
              <a:lnSpc>
                <a:spcPct val="112000"/>
              </a:lnSpc>
              <a:spcAft>
                <a:spcPts val="12"/>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Larger groups were associated with higher average prices</a:t>
            </a:r>
          </a:p>
          <a:p>
            <a:pPr marL="24" indent="-14">
              <a:lnSpc>
                <a:spcPct val="112000"/>
              </a:lnSpc>
              <a:spcAft>
                <a:spcPts val="12"/>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Guests with special requests tended to spend more</a:t>
            </a:r>
          </a:p>
          <a:p>
            <a:pPr marL="24" indent="-14">
              <a:lnSpc>
                <a:spcPct val="112000"/>
              </a:lnSpc>
              <a:spcAft>
                <a:spcPts val="12"/>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Lead time remained important for cancellation behavior</a:t>
            </a:r>
          </a:p>
        </p:txBody>
      </p:sp>
      <p:sp>
        <p:nvSpPr>
          <p:cNvPr id="6" name="Rectangle 5">
            <a:extLst>
              <a:ext uri="{FF2B5EF4-FFF2-40B4-BE49-F238E27FC236}">
                <a16:creationId xmlns:a16="http://schemas.microsoft.com/office/drawing/2014/main" id="{B339F97E-39FB-4210-A7A6-F0120BF7E115}"/>
              </a:ext>
            </a:extLst>
          </p:cNvPr>
          <p:cNvSpPr>
            <a:spLocks noGrp="1"/>
          </p:cNvSpPr>
          <p:nvPr/>
        </p:nvSpPr>
        <p:spPr>
          <a:xfrm>
            <a:off x="8858250" y="4742222"/>
            <a:ext cx="3333750" cy="915014"/>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dirty="0">
                <a:solidFill>
                  <a:srgbClr val="4B5563"/>
                </a:solidFill>
                <a:latin typeface="Helvetica Neue"/>
                <a:ea typeface="Helvetica Neue"/>
                <a:cs typeface="Helvetica Neue"/>
              </a:rPr>
              <a:t>These insights highlight customer loyalty, group bookings, and premium service opportunities.</a:t>
            </a:r>
          </a:p>
        </p:txBody>
      </p:sp>
      <p:sp>
        <p:nvSpPr>
          <p:cNvPr id="7" name="Rectangle 6">
            <a:extLst>
              <a:ext uri="{FF2B5EF4-FFF2-40B4-BE49-F238E27FC236}">
                <a16:creationId xmlns:a16="http://schemas.microsoft.com/office/drawing/2014/main" id="{0EE7EF33-4EA7-4DB3-B938-185E19D87B06}"/>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8" name="Rectangle 7">
            <a:extLst>
              <a:ext uri="{FF2B5EF4-FFF2-40B4-BE49-F238E27FC236}">
                <a16:creationId xmlns:a16="http://schemas.microsoft.com/office/drawing/2014/main" id="{108DC35D-4B80-413F-A83B-C51F1828B01F}"/>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12</a:t>
            </a:r>
          </a:p>
        </p:txBody>
      </p:sp>
    </p:spTree>
    <p:extLst>
      <p:ext uri="{BB962C8B-B14F-4D97-AF65-F5344CB8AC3E}">
        <p14:creationId xmlns:p14="http://schemas.microsoft.com/office/powerpoint/2010/main" val="2191422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2537330F-5423-4AE3-9592-7BC1DFCB3453}"/>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Machine Learning Preparation</a:t>
            </a:r>
          </a:p>
        </p:txBody>
      </p:sp>
      <p:sp>
        <p:nvSpPr>
          <p:cNvPr id="2" name="Rectangle 1">
            <a:extLst>
              <a:ext uri="{FF2B5EF4-FFF2-40B4-BE49-F238E27FC236}">
                <a16:creationId xmlns:a16="http://schemas.microsoft.com/office/drawing/2014/main" id="{1ED7619C-1D24-4943-BC51-75C72DBFEA42}"/>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Oval 2">
            <a:extLst>
              <a:ext uri="{FF2B5EF4-FFF2-40B4-BE49-F238E27FC236}">
                <a16:creationId xmlns:a16="http://schemas.microsoft.com/office/drawing/2014/main" id="{58428E6C-1191-4CD5-8DB1-0DF0CD72DEFF}"/>
              </a:ext>
            </a:extLst>
          </p:cNvPr>
          <p:cNvSpPr>
            <a:spLocks noGrp="1"/>
          </p:cNvSpPr>
          <p:nvPr/>
        </p:nvSpPr>
        <p:spPr>
          <a:xfrm>
            <a:off x="1485900" y="1809750"/>
            <a:ext cx="666750" cy="666750"/>
          </a:xfrm>
          <a:prstGeom prst="ellipse">
            <a:avLst/>
          </a:prstGeom>
          <a:solidFill>
            <a:srgbClr val="F3F4F6"/>
          </a:solidFill>
          <a:ln w="9525">
            <a:solidFill>
              <a:srgbClr val="E5E7EB"/>
            </a:solidFill>
            <a:prstDash val="solid"/>
          </a:ln>
        </p:spPr>
        <p:txBody>
          <a:bodyPr/>
          <a:lstStyle/>
          <a:p>
            <a:endParaRPr lang="en-US"/>
          </a:p>
        </p:txBody>
      </p:sp>
      <p:sp>
        <p:nvSpPr>
          <p:cNvPr id="4" name="Rectangle 3">
            <a:extLst>
              <a:ext uri="{FF2B5EF4-FFF2-40B4-BE49-F238E27FC236}">
                <a16:creationId xmlns:a16="http://schemas.microsoft.com/office/drawing/2014/main" id="{C8B2ABB2-A47D-4D91-8AC1-D039948332BF}"/>
              </a:ext>
            </a:extLst>
          </p:cNvPr>
          <p:cNvSpPr>
            <a:spLocks noGrp="1"/>
          </p:cNvSpPr>
          <p:nvPr/>
        </p:nvSpPr>
        <p:spPr>
          <a:xfrm>
            <a:off x="1485900" y="1971675"/>
            <a:ext cx="666750" cy="342900"/>
          </a:xfrm>
          <a:prstGeom prst="rect">
            <a:avLst/>
          </a:prstGeom>
          <a:noFill/>
          <a:ln w="0">
            <a:noFill/>
            <a:prstDash val="solid"/>
          </a:ln>
        </p:spPr>
        <p:txBody>
          <a:bodyPr lIns="0" tIns="0" rIns="0" bIns="0" anchor="t"/>
          <a:lstStyle/>
          <a:p>
            <a:pPr algn="ctr">
              <a:lnSpc>
                <a:spcPct val="115000"/>
              </a:lnSpc>
              <a:buNone/>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1</a:t>
            </a:r>
          </a:p>
        </p:txBody>
      </p:sp>
      <p:sp>
        <p:nvSpPr>
          <p:cNvPr id="5" name="Rectangle 4">
            <a:extLst>
              <a:ext uri="{FF2B5EF4-FFF2-40B4-BE49-F238E27FC236}">
                <a16:creationId xmlns:a16="http://schemas.microsoft.com/office/drawing/2014/main" id="{74458345-634C-44A6-8D06-9F30B4DAA8C7}"/>
              </a:ext>
            </a:extLst>
          </p:cNvPr>
          <p:cNvSpPr>
            <a:spLocks noGrp="1"/>
          </p:cNvSpPr>
          <p:nvPr/>
        </p:nvSpPr>
        <p:spPr>
          <a:xfrm>
            <a:off x="838200" y="2762250"/>
            <a:ext cx="1962150" cy="762000"/>
          </a:xfrm>
          <a:prstGeom prst="rect">
            <a:avLst/>
          </a:prstGeom>
          <a:noFill/>
          <a:ln w="0">
            <a:noFill/>
            <a:prstDash val="solid"/>
          </a:ln>
        </p:spPr>
        <p:txBody>
          <a:bodyPr lIns="0" tIns="0" rIns="0" bIns="0" anchor="t"/>
          <a:lstStyle/>
          <a:p>
            <a:pPr algn="ctr">
              <a:lnSpc>
                <a:spcPct val="112000"/>
              </a:lnSpc>
              <a:buNone/>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Remove irrelevant columns</a:t>
            </a:r>
          </a:p>
        </p:txBody>
      </p:sp>
      <p:sp>
        <p:nvSpPr>
          <p:cNvPr id="6" name="Rectangle 5">
            <a:extLst>
              <a:ext uri="{FF2B5EF4-FFF2-40B4-BE49-F238E27FC236}">
                <a16:creationId xmlns:a16="http://schemas.microsoft.com/office/drawing/2014/main" id="{F4444581-6D99-474B-A23A-D78F6DAF92DA}"/>
              </a:ext>
            </a:extLst>
          </p:cNvPr>
          <p:cNvSpPr>
            <a:spLocks noGrp="1"/>
          </p:cNvSpPr>
          <p:nvPr/>
        </p:nvSpPr>
        <p:spPr>
          <a:xfrm>
            <a:off x="2409825" y="2114550"/>
            <a:ext cx="895350" cy="28575"/>
          </a:xfrm>
          <a:prstGeom prst="rect">
            <a:avLst/>
          </a:prstGeom>
          <a:solidFill>
            <a:srgbClr val="D1D5DB"/>
          </a:solidFill>
          <a:ln w="0">
            <a:solidFill>
              <a:srgbClr val="D1D5DB"/>
            </a:solidFill>
            <a:prstDash val="solid"/>
          </a:ln>
        </p:spPr>
        <p:txBody>
          <a:bodyPr/>
          <a:lstStyle/>
          <a:p>
            <a:endParaRPr lang="en-US"/>
          </a:p>
        </p:txBody>
      </p:sp>
      <p:sp>
        <p:nvSpPr>
          <p:cNvPr id="7" name="Oval 6">
            <a:extLst>
              <a:ext uri="{FF2B5EF4-FFF2-40B4-BE49-F238E27FC236}">
                <a16:creationId xmlns:a16="http://schemas.microsoft.com/office/drawing/2014/main" id="{D28003D2-48B7-45D4-B271-56C5A28DE81A}"/>
              </a:ext>
            </a:extLst>
          </p:cNvPr>
          <p:cNvSpPr>
            <a:spLocks noGrp="1"/>
          </p:cNvSpPr>
          <p:nvPr/>
        </p:nvSpPr>
        <p:spPr>
          <a:xfrm>
            <a:off x="3562350" y="1809750"/>
            <a:ext cx="666750" cy="666750"/>
          </a:xfrm>
          <a:prstGeom prst="ellipse">
            <a:avLst/>
          </a:prstGeom>
          <a:solidFill>
            <a:srgbClr val="F3F4F6"/>
          </a:solidFill>
          <a:ln w="9525">
            <a:solidFill>
              <a:srgbClr val="E5E7EB"/>
            </a:solidFill>
            <a:prstDash val="solid"/>
          </a:ln>
        </p:spPr>
        <p:txBody>
          <a:bodyPr/>
          <a:lstStyle/>
          <a:p>
            <a:endParaRPr lang="en-US"/>
          </a:p>
        </p:txBody>
      </p:sp>
      <p:sp>
        <p:nvSpPr>
          <p:cNvPr id="8" name="Rectangle 7">
            <a:extLst>
              <a:ext uri="{FF2B5EF4-FFF2-40B4-BE49-F238E27FC236}">
                <a16:creationId xmlns:a16="http://schemas.microsoft.com/office/drawing/2014/main" id="{5F84B401-73AD-4425-9BD8-824594EDA2BD}"/>
              </a:ext>
            </a:extLst>
          </p:cNvPr>
          <p:cNvSpPr>
            <a:spLocks noGrp="1"/>
          </p:cNvSpPr>
          <p:nvPr/>
        </p:nvSpPr>
        <p:spPr>
          <a:xfrm>
            <a:off x="3562350" y="1971675"/>
            <a:ext cx="666750" cy="342900"/>
          </a:xfrm>
          <a:prstGeom prst="rect">
            <a:avLst/>
          </a:prstGeom>
          <a:noFill/>
          <a:ln w="0">
            <a:noFill/>
            <a:prstDash val="solid"/>
          </a:ln>
        </p:spPr>
        <p:txBody>
          <a:bodyPr lIns="0" tIns="0" rIns="0" bIns="0" anchor="t"/>
          <a:lstStyle/>
          <a:p>
            <a:pPr algn="ctr">
              <a:lnSpc>
                <a:spcPct val="115000"/>
              </a:lnSpc>
              <a:buNone/>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2</a:t>
            </a:r>
          </a:p>
        </p:txBody>
      </p:sp>
      <p:sp>
        <p:nvSpPr>
          <p:cNvPr id="9" name="Rectangle 8">
            <a:extLst>
              <a:ext uri="{FF2B5EF4-FFF2-40B4-BE49-F238E27FC236}">
                <a16:creationId xmlns:a16="http://schemas.microsoft.com/office/drawing/2014/main" id="{5401D4A3-2914-4CD5-BA46-FE7DEE6CE4DB}"/>
              </a:ext>
            </a:extLst>
          </p:cNvPr>
          <p:cNvSpPr>
            <a:spLocks noGrp="1"/>
          </p:cNvSpPr>
          <p:nvPr/>
        </p:nvSpPr>
        <p:spPr>
          <a:xfrm>
            <a:off x="2914650" y="2762250"/>
            <a:ext cx="1962150" cy="762000"/>
          </a:xfrm>
          <a:prstGeom prst="rect">
            <a:avLst/>
          </a:prstGeom>
          <a:noFill/>
          <a:ln w="0">
            <a:noFill/>
            <a:prstDash val="solid"/>
          </a:ln>
        </p:spPr>
        <p:txBody>
          <a:bodyPr lIns="0" tIns="0" rIns="0" bIns="0" anchor="t"/>
          <a:lstStyle/>
          <a:p>
            <a:pPr algn="ctr">
              <a:lnSpc>
                <a:spcPct val="112000"/>
              </a:lnSpc>
              <a:buNone/>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Encode categorical variables</a:t>
            </a:r>
          </a:p>
        </p:txBody>
      </p:sp>
      <p:sp>
        <p:nvSpPr>
          <p:cNvPr id="10" name="Rectangle 9">
            <a:extLst>
              <a:ext uri="{FF2B5EF4-FFF2-40B4-BE49-F238E27FC236}">
                <a16:creationId xmlns:a16="http://schemas.microsoft.com/office/drawing/2014/main" id="{7C9C3EC2-E18D-4955-B09B-92467B70075C}"/>
              </a:ext>
            </a:extLst>
          </p:cNvPr>
          <p:cNvSpPr>
            <a:spLocks noGrp="1"/>
          </p:cNvSpPr>
          <p:nvPr/>
        </p:nvSpPr>
        <p:spPr>
          <a:xfrm>
            <a:off x="4486275" y="2114550"/>
            <a:ext cx="895350" cy="28575"/>
          </a:xfrm>
          <a:prstGeom prst="rect">
            <a:avLst/>
          </a:prstGeom>
          <a:solidFill>
            <a:srgbClr val="D1D5DB"/>
          </a:solidFill>
          <a:ln w="0">
            <a:solidFill>
              <a:srgbClr val="D1D5DB"/>
            </a:solidFill>
            <a:prstDash val="solid"/>
          </a:ln>
        </p:spPr>
        <p:txBody>
          <a:bodyPr/>
          <a:lstStyle/>
          <a:p>
            <a:endParaRPr lang="en-US"/>
          </a:p>
        </p:txBody>
      </p:sp>
      <p:sp>
        <p:nvSpPr>
          <p:cNvPr id="11" name="Oval 10">
            <a:extLst>
              <a:ext uri="{FF2B5EF4-FFF2-40B4-BE49-F238E27FC236}">
                <a16:creationId xmlns:a16="http://schemas.microsoft.com/office/drawing/2014/main" id="{F689EA41-36D4-434D-8F19-8B70B976CED2}"/>
              </a:ext>
            </a:extLst>
          </p:cNvPr>
          <p:cNvSpPr>
            <a:spLocks noGrp="1"/>
          </p:cNvSpPr>
          <p:nvPr/>
        </p:nvSpPr>
        <p:spPr>
          <a:xfrm>
            <a:off x="5638800" y="1809750"/>
            <a:ext cx="666750" cy="666750"/>
          </a:xfrm>
          <a:prstGeom prst="ellipse">
            <a:avLst/>
          </a:prstGeom>
          <a:solidFill>
            <a:srgbClr val="F3F4F6"/>
          </a:solidFill>
          <a:ln w="9525">
            <a:solidFill>
              <a:srgbClr val="E5E7EB"/>
            </a:solidFill>
            <a:prstDash val="solid"/>
          </a:ln>
        </p:spPr>
        <p:txBody>
          <a:bodyPr/>
          <a:lstStyle/>
          <a:p>
            <a:endParaRPr lang="en-US"/>
          </a:p>
        </p:txBody>
      </p:sp>
      <p:sp>
        <p:nvSpPr>
          <p:cNvPr id="12" name="Rectangle 11">
            <a:extLst>
              <a:ext uri="{FF2B5EF4-FFF2-40B4-BE49-F238E27FC236}">
                <a16:creationId xmlns:a16="http://schemas.microsoft.com/office/drawing/2014/main" id="{24D7BECC-418A-441E-8A8E-DCB87CB0F709}"/>
              </a:ext>
            </a:extLst>
          </p:cNvPr>
          <p:cNvSpPr>
            <a:spLocks noGrp="1"/>
          </p:cNvSpPr>
          <p:nvPr/>
        </p:nvSpPr>
        <p:spPr>
          <a:xfrm>
            <a:off x="5638800" y="1971675"/>
            <a:ext cx="666750" cy="342900"/>
          </a:xfrm>
          <a:prstGeom prst="rect">
            <a:avLst/>
          </a:prstGeom>
          <a:noFill/>
          <a:ln w="0">
            <a:noFill/>
            <a:prstDash val="solid"/>
          </a:ln>
        </p:spPr>
        <p:txBody>
          <a:bodyPr lIns="0" tIns="0" rIns="0" bIns="0" anchor="t"/>
          <a:lstStyle/>
          <a:p>
            <a:pPr algn="ctr">
              <a:lnSpc>
                <a:spcPct val="115000"/>
              </a:lnSpc>
              <a:buNone/>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3</a:t>
            </a:r>
          </a:p>
        </p:txBody>
      </p:sp>
      <p:sp>
        <p:nvSpPr>
          <p:cNvPr id="13" name="Rectangle 12">
            <a:extLst>
              <a:ext uri="{FF2B5EF4-FFF2-40B4-BE49-F238E27FC236}">
                <a16:creationId xmlns:a16="http://schemas.microsoft.com/office/drawing/2014/main" id="{96193A10-7CFF-4C6C-A0EA-F0E2FACD1154}"/>
              </a:ext>
            </a:extLst>
          </p:cNvPr>
          <p:cNvSpPr>
            <a:spLocks noGrp="1"/>
          </p:cNvSpPr>
          <p:nvPr/>
        </p:nvSpPr>
        <p:spPr>
          <a:xfrm>
            <a:off x="4991100" y="2762250"/>
            <a:ext cx="1962150" cy="762000"/>
          </a:xfrm>
          <a:prstGeom prst="rect">
            <a:avLst/>
          </a:prstGeom>
          <a:noFill/>
          <a:ln w="0">
            <a:noFill/>
            <a:prstDash val="solid"/>
          </a:ln>
        </p:spPr>
        <p:txBody>
          <a:bodyPr lIns="0" tIns="0" rIns="0" bIns="0" anchor="t"/>
          <a:lstStyle/>
          <a:p>
            <a:pPr algn="ctr">
              <a:lnSpc>
                <a:spcPct val="112000"/>
              </a:lnSpc>
              <a:buNone/>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Scale lead time and average price</a:t>
            </a:r>
          </a:p>
        </p:txBody>
      </p:sp>
      <p:sp>
        <p:nvSpPr>
          <p:cNvPr id="14" name="Rectangle 13">
            <a:extLst>
              <a:ext uri="{FF2B5EF4-FFF2-40B4-BE49-F238E27FC236}">
                <a16:creationId xmlns:a16="http://schemas.microsoft.com/office/drawing/2014/main" id="{EF357C0A-020F-4E84-8BCC-B94D715A9148}"/>
              </a:ext>
            </a:extLst>
          </p:cNvPr>
          <p:cNvSpPr>
            <a:spLocks noGrp="1"/>
          </p:cNvSpPr>
          <p:nvPr/>
        </p:nvSpPr>
        <p:spPr>
          <a:xfrm>
            <a:off x="6562725" y="2114550"/>
            <a:ext cx="895350" cy="28575"/>
          </a:xfrm>
          <a:prstGeom prst="rect">
            <a:avLst/>
          </a:prstGeom>
          <a:solidFill>
            <a:srgbClr val="D1D5DB"/>
          </a:solidFill>
          <a:ln w="0">
            <a:solidFill>
              <a:srgbClr val="D1D5DB"/>
            </a:solidFill>
            <a:prstDash val="solid"/>
          </a:ln>
        </p:spPr>
        <p:txBody>
          <a:bodyPr/>
          <a:lstStyle/>
          <a:p>
            <a:endParaRPr lang="en-US"/>
          </a:p>
        </p:txBody>
      </p:sp>
      <p:sp>
        <p:nvSpPr>
          <p:cNvPr id="15" name="Oval 14">
            <a:extLst>
              <a:ext uri="{FF2B5EF4-FFF2-40B4-BE49-F238E27FC236}">
                <a16:creationId xmlns:a16="http://schemas.microsoft.com/office/drawing/2014/main" id="{566B1F22-C837-48BB-9E2F-C9E3FAE309E8}"/>
              </a:ext>
            </a:extLst>
          </p:cNvPr>
          <p:cNvSpPr>
            <a:spLocks noGrp="1"/>
          </p:cNvSpPr>
          <p:nvPr/>
        </p:nvSpPr>
        <p:spPr>
          <a:xfrm>
            <a:off x="7715250" y="1809750"/>
            <a:ext cx="666750" cy="666750"/>
          </a:xfrm>
          <a:prstGeom prst="ellipse">
            <a:avLst/>
          </a:prstGeom>
          <a:solidFill>
            <a:srgbClr val="F59E0B"/>
          </a:solidFill>
          <a:ln w="9525">
            <a:solidFill>
              <a:srgbClr val="E5E7EB"/>
            </a:solidFill>
            <a:prstDash val="solid"/>
          </a:ln>
        </p:spPr>
        <p:txBody>
          <a:bodyPr/>
          <a:lstStyle/>
          <a:p>
            <a:endParaRPr lang="en-US"/>
          </a:p>
        </p:txBody>
      </p:sp>
      <p:sp>
        <p:nvSpPr>
          <p:cNvPr id="16" name="Rectangle 15">
            <a:extLst>
              <a:ext uri="{FF2B5EF4-FFF2-40B4-BE49-F238E27FC236}">
                <a16:creationId xmlns:a16="http://schemas.microsoft.com/office/drawing/2014/main" id="{9D68AC25-ECAF-476C-A1DC-B684FBBBC088}"/>
              </a:ext>
            </a:extLst>
          </p:cNvPr>
          <p:cNvSpPr>
            <a:spLocks noGrp="1"/>
          </p:cNvSpPr>
          <p:nvPr/>
        </p:nvSpPr>
        <p:spPr>
          <a:xfrm>
            <a:off x="7715250" y="1971675"/>
            <a:ext cx="666750" cy="342900"/>
          </a:xfrm>
          <a:prstGeom prst="rect">
            <a:avLst/>
          </a:prstGeom>
          <a:noFill/>
          <a:ln w="0">
            <a:noFill/>
            <a:prstDash val="solid"/>
          </a:ln>
        </p:spPr>
        <p:txBody>
          <a:bodyPr lIns="0" tIns="0" rIns="0" bIns="0" anchor="t"/>
          <a:lstStyle/>
          <a:p>
            <a:pPr algn="ctr">
              <a:lnSpc>
                <a:spcPct val="115000"/>
              </a:lnSpc>
              <a:buNone/>
              <a:defRPr sz="2250" b="1">
                <a:solidFill>
                  <a:srgbClr val="FFFFFF"/>
                </a:solidFill>
                <a:latin typeface="Helvetica Neue"/>
                <a:ea typeface="Helvetica Neue"/>
                <a:cs typeface="Helvetica Neue"/>
              </a:defRPr>
            </a:pPr>
            <a:r>
              <a:rPr sz="2250" b="1">
                <a:solidFill>
                  <a:srgbClr val="FFFFFF"/>
                </a:solidFill>
                <a:latin typeface="Helvetica Neue"/>
                <a:ea typeface="Helvetica Neue"/>
                <a:cs typeface="Helvetica Neue"/>
              </a:rPr>
              <a:t>4</a:t>
            </a:r>
          </a:p>
        </p:txBody>
      </p:sp>
      <p:sp>
        <p:nvSpPr>
          <p:cNvPr id="17" name="Rectangle 16">
            <a:extLst>
              <a:ext uri="{FF2B5EF4-FFF2-40B4-BE49-F238E27FC236}">
                <a16:creationId xmlns:a16="http://schemas.microsoft.com/office/drawing/2014/main" id="{A2BDFEB7-8180-4BA0-822E-92112D7B170F}"/>
              </a:ext>
            </a:extLst>
          </p:cNvPr>
          <p:cNvSpPr>
            <a:spLocks noGrp="1"/>
          </p:cNvSpPr>
          <p:nvPr/>
        </p:nvSpPr>
        <p:spPr>
          <a:xfrm>
            <a:off x="7067550" y="2762250"/>
            <a:ext cx="1962150" cy="762000"/>
          </a:xfrm>
          <a:prstGeom prst="rect">
            <a:avLst/>
          </a:prstGeom>
          <a:noFill/>
          <a:ln w="0">
            <a:noFill/>
            <a:prstDash val="solid"/>
          </a:ln>
        </p:spPr>
        <p:txBody>
          <a:bodyPr lIns="0" tIns="0" rIns="0" bIns="0" anchor="t"/>
          <a:lstStyle/>
          <a:p>
            <a:pPr algn="ctr">
              <a:lnSpc>
                <a:spcPct val="112000"/>
              </a:lnSpc>
              <a:buNone/>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Apply SMOTE for class balance</a:t>
            </a:r>
          </a:p>
        </p:txBody>
      </p:sp>
      <p:sp>
        <p:nvSpPr>
          <p:cNvPr id="18" name="Rectangle 17">
            <a:extLst>
              <a:ext uri="{FF2B5EF4-FFF2-40B4-BE49-F238E27FC236}">
                <a16:creationId xmlns:a16="http://schemas.microsoft.com/office/drawing/2014/main" id="{F86F0644-5F31-4446-817F-5118A4B283AC}"/>
              </a:ext>
            </a:extLst>
          </p:cNvPr>
          <p:cNvSpPr>
            <a:spLocks noGrp="1"/>
          </p:cNvSpPr>
          <p:nvPr/>
        </p:nvSpPr>
        <p:spPr>
          <a:xfrm>
            <a:off x="8639175" y="2114550"/>
            <a:ext cx="895350" cy="28575"/>
          </a:xfrm>
          <a:prstGeom prst="rect">
            <a:avLst/>
          </a:prstGeom>
          <a:solidFill>
            <a:srgbClr val="D1D5DB"/>
          </a:solidFill>
          <a:ln w="0">
            <a:solidFill>
              <a:srgbClr val="D1D5DB"/>
            </a:solidFill>
            <a:prstDash val="solid"/>
          </a:ln>
        </p:spPr>
        <p:txBody>
          <a:bodyPr/>
          <a:lstStyle/>
          <a:p>
            <a:endParaRPr lang="en-US"/>
          </a:p>
        </p:txBody>
      </p:sp>
      <p:sp>
        <p:nvSpPr>
          <p:cNvPr id="19" name="Oval 18">
            <a:extLst>
              <a:ext uri="{FF2B5EF4-FFF2-40B4-BE49-F238E27FC236}">
                <a16:creationId xmlns:a16="http://schemas.microsoft.com/office/drawing/2014/main" id="{2CAD5E21-6400-4247-AAA5-1C01D56F434A}"/>
              </a:ext>
            </a:extLst>
          </p:cNvPr>
          <p:cNvSpPr>
            <a:spLocks noGrp="1"/>
          </p:cNvSpPr>
          <p:nvPr/>
        </p:nvSpPr>
        <p:spPr>
          <a:xfrm>
            <a:off x="9791700" y="1809750"/>
            <a:ext cx="666750" cy="666750"/>
          </a:xfrm>
          <a:prstGeom prst="ellipse">
            <a:avLst/>
          </a:prstGeom>
          <a:solidFill>
            <a:srgbClr val="F3F4F6"/>
          </a:solidFill>
          <a:ln w="9525">
            <a:solidFill>
              <a:srgbClr val="E5E7EB"/>
            </a:solidFill>
            <a:prstDash val="solid"/>
          </a:ln>
        </p:spPr>
        <p:txBody>
          <a:bodyPr/>
          <a:lstStyle/>
          <a:p>
            <a:endParaRPr lang="en-US"/>
          </a:p>
        </p:txBody>
      </p:sp>
      <p:sp>
        <p:nvSpPr>
          <p:cNvPr id="20" name="Rectangle 19">
            <a:extLst>
              <a:ext uri="{FF2B5EF4-FFF2-40B4-BE49-F238E27FC236}">
                <a16:creationId xmlns:a16="http://schemas.microsoft.com/office/drawing/2014/main" id="{D434DAD2-53B6-4A43-B227-2C7646CBD9DB}"/>
              </a:ext>
            </a:extLst>
          </p:cNvPr>
          <p:cNvSpPr>
            <a:spLocks noGrp="1"/>
          </p:cNvSpPr>
          <p:nvPr/>
        </p:nvSpPr>
        <p:spPr>
          <a:xfrm>
            <a:off x="9791700" y="1971675"/>
            <a:ext cx="666750" cy="342900"/>
          </a:xfrm>
          <a:prstGeom prst="rect">
            <a:avLst/>
          </a:prstGeom>
          <a:noFill/>
          <a:ln w="0">
            <a:noFill/>
            <a:prstDash val="solid"/>
          </a:ln>
        </p:spPr>
        <p:txBody>
          <a:bodyPr lIns="0" tIns="0" rIns="0" bIns="0" anchor="t"/>
          <a:lstStyle/>
          <a:p>
            <a:pPr algn="ctr">
              <a:lnSpc>
                <a:spcPct val="115000"/>
              </a:lnSpc>
              <a:buNone/>
              <a:defRPr sz="2250" b="1">
                <a:solidFill>
                  <a:srgbClr val="111827"/>
                </a:solidFill>
                <a:latin typeface="Helvetica Neue"/>
                <a:ea typeface="Helvetica Neue"/>
                <a:cs typeface="Helvetica Neue"/>
              </a:defRPr>
            </a:pPr>
            <a:r>
              <a:rPr sz="2250" b="1">
                <a:solidFill>
                  <a:srgbClr val="111827"/>
                </a:solidFill>
                <a:latin typeface="Helvetica Neue"/>
                <a:ea typeface="Helvetica Neue"/>
                <a:cs typeface="Helvetica Neue"/>
              </a:rPr>
              <a:t>5</a:t>
            </a:r>
          </a:p>
        </p:txBody>
      </p:sp>
      <p:sp>
        <p:nvSpPr>
          <p:cNvPr id="21" name="Rectangle 20">
            <a:extLst>
              <a:ext uri="{FF2B5EF4-FFF2-40B4-BE49-F238E27FC236}">
                <a16:creationId xmlns:a16="http://schemas.microsoft.com/office/drawing/2014/main" id="{6C7B1EF6-91EE-457A-AE84-823B203C9978}"/>
              </a:ext>
            </a:extLst>
          </p:cNvPr>
          <p:cNvSpPr>
            <a:spLocks noGrp="1"/>
          </p:cNvSpPr>
          <p:nvPr/>
        </p:nvSpPr>
        <p:spPr>
          <a:xfrm>
            <a:off x="9144000" y="2762250"/>
            <a:ext cx="1962150" cy="762000"/>
          </a:xfrm>
          <a:prstGeom prst="rect">
            <a:avLst/>
          </a:prstGeom>
          <a:noFill/>
          <a:ln w="0">
            <a:noFill/>
            <a:prstDash val="solid"/>
          </a:ln>
        </p:spPr>
        <p:txBody>
          <a:bodyPr lIns="0" tIns="0" rIns="0" bIns="0" anchor="t"/>
          <a:lstStyle/>
          <a:p>
            <a:pPr algn="ctr">
              <a:lnSpc>
                <a:spcPct val="112000"/>
              </a:lnSpc>
              <a:buNone/>
              <a:defRPr sz="1350" b="1">
                <a:solidFill>
                  <a:srgbClr val="111827"/>
                </a:solidFill>
                <a:latin typeface="Helvetica Neue"/>
                <a:ea typeface="Helvetica Neue"/>
                <a:cs typeface="Helvetica Neue"/>
              </a:defRPr>
            </a:pPr>
            <a:r>
              <a:rPr sz="1350" b="1">
                <a:solidFill>
                  <a:srgbClr val="111827"/>
                </a:solidFill>
                <a:latin typeface="Helvetica Neue"/>
                <a:ea typeface="Helvetica Neue"/>
                <a:cs typeface="Helvetica Neue"/>
              </a:rPr>
              <a:t>Split data into train and test sets</a:t>
            </a:r>
          </a:p>
        </p:txBody>
      </p:sp>
      <p:sp>
        <p:nvSpPr>
          <p:cNvPr id="22" name="Rectangle 21">
            <a:extLst>
              <a:ext uri="{FF2B5EF4-FFF2-40B4-BE49-F238E27FC236}">
                <a16:creationId xmlns:a16="http://schemas.microsoft.com/office/drawing/2014/main" id="{263D7DC0-0C09-4A40-8F2E-B821B3CCA5A1}"/>
              </a:ext>
            </a:extLst>
          </p:cNvPr>
          <p:cNvSpPr>
            <a:spLocks noGrp="1"/>
          </p:cNvSpPr>
          <p:nvPr/>
        </p:nvSpPr>
        <p:spPr>
          <a:xfrm>
            <a:off x="2000250" y="4286250"/>
            <a:ext cx="7810500" cy="1047750"/>
          </a:xfrm>
          <a:prstGeom prst="rect">
            <a:avLst/>
          </a:prstGeom>
          <a:noFill/>
          <a:ln w="0">
            <a:noFill/>
            <a:prstDash val="solid"/>
          </a:ln>
        </p:spPr>
        <p:txBody>
          <a:bodyPr lIns="0" tIns="0" rIns="76200" bIns="0"/>
          <a:lstStyle/>
          <a:p>
            <a:pPr marL="24" indent="-14">
              <a:lnSpc>
                <a:spcPct val="112000"/>
              </a:lnSpc>
              <a:spcAft>
                <a:spcPts val="8"/>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The final data was prepared for classification modelling</a:t>
            </a:r>
          </a:p>
          <a:p>
            <a:pPr marL="24" indent="-14">
              <a:lnSpc>
                <a:spcPct val="112000"/>
              </a:lnSpc>
              <a:spcAft>
                <a:spcPts val="8"/>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The target classes were balanced before training</a:t>
            </a:r>
          </a:p>
          <a:p>
            <a:pPr marL="24" indent="-14">
              <a:lnSpc>
                <a:spcPct val="112000"/>
              </a:lnSpc>
              <a:spcAft>
                <a:spcPts val="8"/>
              </a:spcAft>
              <a:buNone/>
              <a:defRPr sz="1725">
                <a:solidFill>
                  <a:srgbClr val="111827"/>
                </a:solidFill>
                <a:latin typeface="Helvetica Neue"/>
                <a:ea typeface="Helvetica Neue"/>
                <a:cs typeface="Helvetica Neue"/>
              </a:defRPr>
            </a:pPr>
            <a:r>
              <a:rPr sz="1725">
                <a:solidFill>
                  <a:srgbClr val="111827"/>
                </a:solidFill>
                <a:latin typeface="Helvetica Neue"/>
                <a:ea typeface="Helvetica Neue"/>
                <a:cs typeface="Helvetica Neue"/>
              </a:rPr>
              <a:t>The workflow supported fairer model evaluation</a:t>
            </a:r>
          </a:p>
        </p:txBody>
      </p:sp>
      <p:sp>
        <p:nvSpPr>
          <p:cNvPr id="23" name="Rectangle 22">
            <a:extLst>
              <a:ext uri="{FF2B5EF4-FFF2-40B4-BE49-F238E27FC236}">
                <a16:creationId xmlns:a16="http://schemas.microsoft.com/office/drawing/2014/main" id="{B2D351EA-75F3-45C5-B000-67F57C685437}"/>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24" name="Rectangle 23">
            <a:extLst>
              <a:ext uri="{FF2B5EF4-FFF2-40B4-BE49-F238E27FC236}">
                <a16:creationId xmlns:a16="http://schemas.microsoft.com/office/drawing/2014/main" id="{BE0A2E60-2F4C-486B-90E2-BCE9023C423A}"/>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13</a:t>
            </a:r>
          </a:p>
        </p:txBody>
      </p:sp>
    </p:spTree>
    <p:extLst>
      <p:ext uri="{BB962C8B-B14F-4D97-AF65-F5344CB8AC3E}">
        <p14:creationId xmlns:p14="http://schemas.microsoft.com/office/powerpoint/2010/main" val="19944895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CF9348A-5FC9-426C-9469-A2A92E26628C}"/>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a:solidFill>
                  <a:srgbClr val="111827"/>
                </a:solidFill>
                <a:latin typeface="Helvetica Neue"/>
                <a:ea typeface="Helvetica Neue"/>
                <a:cs typeface="Helvetica Neue"/>
              </a:rPr>
              <a:t>Model Performance</a:t>
            </a:r>
          </a:p>
        </p:txBody>
      </p:sp>
      <p:sp>
        <p:nvSpPr>
          <p:cNvPr id="2" name="Rectangle 1">
            <a:extLst>
              <a:ext uri="{FF2B5EF4-FFF2-40B4-BE49-F238E27FC236}">
                <a16:creationId xmlns:a16="http://schemas.microsoft.com/office/drawing/2014/main" id="{D49FF4A5-47CF-465E-A99D-57960FF0CB66}"/>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A70E45E0-40B6-4E99-BEEC-37AB2AF407DE}"/>
              </a:ext>
            </a:extLst>
          </p:cNvPr>
          <p:cNvSpPr>
            <a:spLocks noGrp="1"/>
          </p:cNvSpPr>
          <p:nvPr/>
        </p:nvSpPr>
        <p:spPr>
          <a:xfrm>
            <a:off x="666750" y="1143000"/>
            <a:ext cx="8572500" cy="3048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dirty="0">
                <a:solidFill>
                  <a:srgbClr val="4B5563"/>
                </a:solidFill>
                <a:latin typeface="Helvetica Neue"/>
                <a:ea typeface="Helvetica Neue"/>
                <a:cs typeface="Helvetica Neue"/>
              </a:rPr>
              <a:t>Random Forest Classification Metrics (%)</a:t>
            </a:r>
          </a:p>
        </p:txBody>
      </p:sp>
      <p:pic>
        <p:nvPicPr>
          <p:cNvPr id="17" name="Picture 16"/>
          <p:cNvPicPr>
            <a:picLocks noChangeAspect="1"/>
          </p:cNvPicPr>
          <p:nvPr/>
        </p:nvPicPr>
        <p:blipFill>
          <a:blip r:embed="rId3"/>
          <a:stretch/>
        </p:blipFill>
        <p:spPr>
          <a:xfrm>
            <a:off x="176981" y="1543050"/>
            <a:ext cx="8642553" cy="4791075"/>
          </a:xfrm>
          <a:prstGeom prst="rect">
            <a:avLst/>
          </a:prstGeom>
        </p:spPr>
      </p:pic>
      <p:sp>
        <p:nvSpPr>
          <p:cNvPr id="5" name="Rectangle: Rounded Corners 4">
            <a:extLst>
              <a:ext uri="{FF2B5EF4-FFF2-40B4-BE49-F238E27FC236}">
                <a16:creationId xmlns:a16="http://schemas.microsoft.com/office/drawing/2014/main" id="{4A74D317-9C41-4139-AA2F-F19494471A4A}"/>
              </a:ext>
            </a:extLst>
          </p:cNvPr>
          <p:cNvSpPr>
            <a:spLocks noGrp="1"/>
          </p:cNvSpPr>
          <p:nvPr/>
        </p:nvSpPr>
        <p:spPr>
          <a:xfrm>
            <a:off x="9157518" y="1524000"/>
            <a:ext cx="2857500" cy="1190625"/>
          </a:xfrm>
          <a:prstGeom prst="roundRect">
            <a:avLst>
              <a:gd name="adj" fmla="val 6400"/>
            </a:avLst>
          </a:prstGeom>
          <a:solidFill>
            <a:srgbClr val="F3F4F6"/>
          </a:solidFill>
          <a:ln w="9525">
            <a:solidFill>
              <a:srgbClr val="E5E7EB"/>
            </a:solidFill>
            <a:prstDash val="solid"/>
          </a:ln>
        </p:spPr>
        <p:txBody>
          <a:bodyPr/>
          <a:lstStyle/>
          <a:p>
            <a:endParaRPr lang="en-US"/>
          </a:p>
        </p:txBody>
      </p:sp>
      <p:sp>
        <p:nvSpPr>
          <p:cNvPr id="6" name="Rectangle 5">
            <a:extLst>
              <a:ext uri="{FF2B5EF4-FFF2-40B4-BE49-F238E27FC236}">
                <a16:creationId xmlns:a16="http://schemas.microsoft.com/office/drawing/2014/main" id="{2A7894B6-1684-41CA-9912-2F06B6A771C6}"/>
              </a:ext>
            </a:extLst>
          </p:cNvPr>
          <p:cNvSpPr>
            <a:spLocks noGrp="1"/>
          </p:cNvSpPr>
          <p:nvPr/>
        </p:nvSpPr>
        <p:spPr>
          <a:xfrm>
            <a:off x="9408855" y="1609725"/>
            <a:ext cx="2514600" cy="457200"/>
          </a:xfrm>
          <a:prstGeom prst="rect">
            <a:avLst/>
          </a:prstGeom>
          <a:noFill/>
          <a:ln w="0">
            <a:noFill/>
            <a:prstDash val="solid"/>
          </a:ln>
        </p:spPr>
        <p:txBody>
          <a:bodyPr lIns="0" tIns="0" rIns="0" bIns="0" anchor="t"/>
          <a:lstStyle/>
          <a:p>
            <a:pPr algn="ctr">
              <a:lnSpc>
                <a:spcPct val="115000"/>
              </a:lnSpc>
              <a:buNone/>
              <a:defRPr sz="3150" b="1">
                <a:solidFill>
                  <a:srgbClr val="111827"/>
                </a:solidFill>
                <a:latin typeface="Helvetica Neue"/>
                <a:ea typeface="Helvetica Neue"/>
                <a:cs typeface="Helvetica Neue"/>
              </a:defRPr>
            </a:pPr>
            <a:r>
              <a:rPr sz="3150" b="1" dirty="0">
                <a:solidFill>
                  <a:srgbClr val="111827"/>
                </a:solidFill>
                <a:latin typeface="Helvetica Neue"/>
                <a:ea typeface="Helvetica Neue"/>
                <a:cs typeface="Helvetica Neue"/>
              </a:rPr>
              <a:t>79%</a:t>
            </a:r>
          </a:p>
        </p:txBody>
      </p:sp>
      <p:sp>
        <p:nvSpPr>
          <p:cNvPr id="7" name="Rectangle 6">
            <a:extLst>
              <a:ext uri="{FF2B5EF4-FFF2-40B4-BE49-F238E27FC236}">
                <a16:creationId xmlns:a16="http://schemas.microsoft.com/office/drawing/2014/main" id="{82062446-A68F-4B2C-BD3A-AB66C76973E1}"/>
              </a:ext>
            </a:extLst>
          </p:cNvPr>
          <p:cNvSpPr>
            <a:spLocks noGrp="1"/>
          </p:cNvSpPr>
          <p:nvPr/>
        </p:nvSpPr>
        <p:spPr>
          <a:xfrm>
            <a:off x="9239250" y="2286000"/>
            <a:ext cx="2552700" cy="457200"/>
          </a:xfrm>
          <a:prstGeom prst="rect">
            <a:avLst/>
          </a:prstGeom>
          <a:noFill/>
          <a:ln w="0">
            <a:noFill/>
            <a:prstDash val="solid"/>
          </a:ln>
        </p:spPr>
        <p:txBody>
          <a:bodyPr lIns="0" tIns="0" rIns="0" bIns="0" anchor="t"/>
          <a:lstStyle/>
          <a:p>
            <a:pPr algn="ctr">
              <a:lnSpc>
                <a:spcPct val="115000"/>
              </a:lnSpc>
              <a:buNone/>
              <a:defRPr sz="1200" b="0">
                <a:solidFill>
                  <a:srgbClr val="4B5563"/>
                </a:solidFill>
                <a:latin typeface="Helvetica Neue"/>
                <a:ea typeface="Helvetica Neue"/>
                <a:cs typeface="Helvetica Neue"/>
              </a:defRPr>
            </a:pPr>
            <a:r>
              <a:rPr sz="1200" b="0" dirty="0">
                <a:solidFill>
                  <a:srgbClr val="4B5563"/>
                </a:solidFill>
                <a:latin typeface="Helvetica Neue"/>
                <a:ea typeface="Helvetica Neue"/>
                <a:cs typeface="Helvetica Neue"/>
              </a:rPr>
              <a:t>Logistic Regression accuracy</a:t>
            </a:r>
          </a:p>
        </p:txBody>
      </p:sp>
      <p:sp>
        <p:nvSpPr>
          <p:cNvPr id="8" name="Rectangle: Rounded Corners 7">
            <a:extLst>
              <a:ext uri="{FF2B5EF4-FFF2-40B4-BE49-F238E27FC236}">
                <a16:creationId xmlns:a16="http://schemas.microsoft.com/office/drawing/2014/main" id="{C3ECA65F-CAF3-40DA-8419-7C61D2EF8B4E}"/>
              </a:ext>
            </a:extLst>
          </p:cNvPr>
          <p:cNvSpPr>
            <a:spLocks noGrp="1"/>
          </p:cNvSpPr>
          <p:nvPr/>
        </p:nvSpPr>
        <p:spPr>
          <a:xfrm>
            <a:off x="9157518" y="2952750"/>
            <a:ext cx="2857500" cy="1190625"/>
          </a:xfrm>
          <a:prstGeom prst="roundRect">
            <a:avLst>
              <a:gd name="adj" fmla="val 6400"/>
            </a:avLst>
          </a:prstGeom>
          <a:solidFill>
            <a:srgbClr val="FFF7ED"/>
          </a:solidFill>
          <a:ln w="9525">
            <a:solidFill>
              <a:srgbClr val="E5E7EB"/>
            </a:solidFill>
            <a:prstDash val="solid"/>
          </a:ln>
        </p:spPr>
        <p:txBody>
          <a:bodyPr/>
          <a:lstStyle/>
          <a:p>
            <a:endParaRPr lang="en-US"/>
          </a:p>
        </p:txBody>
      </p:sp>
      <p:sp>
        <p:nvSpPr>
          <p:cNvPr id="9" name="Rectangle 8">
            <a:extLst>
              <a:ext uri="{FF2B5EF4-FFF2-40B4-BE49-F238E27FC236}">
                <a16:creationId xmlns:a16="http://schemas.microsoft.com/office/drawing/2014/main" id="{1A34D14B-5551-457B-AA54-93063727B265}"/>
              </a:ext>
            </a:extLst>
          </p:cNvPr>
          <p:cNvSpPr>
            <a:spLocks noGrp="1"/>
          </p:cNvSpPr>
          <p:nvPr/>
        </p:nvSpPr>
        <p:spPr>
          <a:xfrm>
            <a:off x="9405782" y="3048000"/>
            <a:ext cx="2514600" cy="457200"/>
          </a:xfrm>
          <a:prstGeom prst="rect">
            <a:avLst/>
          </a:prstGeom>
          <a:noFill/>
          <a:ln w="0">
            <a:noFill/>
            <a:prstDash val="solid"/>
          </a:ln>
        </p:spPr>
        <p:txBody>
          <a:bodyPr lIns="0" tIns="0" rIns="0" bIns="0" anchor="t"/>
          <a:lstStyle/>
          <a:p>
            <a:pPr algn="ctr">
              <a:lnSpc>
                <a:spcPct val="115000"/>
              </a:lnSpc>
              <a:buNone/>
              <a:defRPr sz="3150" b="1">
                <a:solidFill>
                  <a:srgbClr val="111827"/>
                </a:solidFill>
                <a:latin typeface="Helvetica Neue"/>
                <a:ea typeface="Helvetica Neue"/>
                <a:cs typeface="Helvetica Neue"/>
              </a:defRPr>
            </a:pPr>
            <a:r>
              <a:rPr sz="3150" b="1" dirty="0">
                <a:solidFill>
                  <a:srgbClr val="111827"/>
                </a:solidFill>
                <a:latin typeface="Helvetica Neue"/>
                <a:ea typeface="Helvetica Neue"/>
                <a:cs typeface="Helvetica Neue"/>
              </a:rPr>
              <a:t>92%</a:t>
            </a:r>
          </a:p>
        </p:txBody>
      </p:sp>
      <p:sp>
        <p:nvSpPr>
          <p:cNvPr id="10" name="Rectangle 9">
            <a:extLst>
              <a:ext uri="{FF2B5EF4-FFF2-40B4-BE49-F238E27FC236}">
                <a16:creationId xmlns:a16="http://schemas.microsoft.com/office/drawing/2014/main" id="{32AEDF6F-9D9B-46E3-B60C-202F164FBBDA}"/>
              </a:ext>
            </a:extLst>
          </p:cNvPr>
          <p:cNvSpPr>
            <a:spLocks noGrp="1"/>
          </p:cNvSpPr>
          <p:nvPr/>
        </p:nvSpPr>
        <p:spPr>
          <a:xfrm>
            <a:off x="9385503" y="3671888"/>
            <a:ext cx="2552700" cy="457200"/>
          </a:xfrm>
          <a:prstGeom prst="rect">
            <a:avLst/>
          </a:prstGeom>
          <a:noFill/>
          <a:ln w="0">
            <a:noFill/>
            <a:prstDash val="solid"/>
          </a:ln>
        </p:spPr>
        <p:txBody>
          <a:bodyPr lIns="0" tIns="0" rIns="0" bIns="0" anchor="t"/>
          <a:lstStyle/>
          <a:p>
            <a:pPr algn="ctr">
              <a:lnSpc>
                <a:spcPct val="115000"/>
              </a:lnSpc>
              <a:buNone/>
              <a:defRPr sz="1200" b="0">
                <a:solidFill>
                  <a:srgbClr val="4B5563"/>
                </a:solidFill>
                <a:latin typeface="Helvetica Neue"/>
                <a:ea typeface="Helvetica Neue"/>
                <a:cs typeface="Helvetica Neue"/>
              </a:defRPr>
            </a:pPr>
            <a:r>
              <a:rPr sz="1200" b="0" dirty="0">
                <a:solidFill>
                  <a:srgbClr val="4B5563"/>
                </a:solidFill>
                <a:latin typeface="Helvetica Neue"/>
                <a:ea typeface="Helvetica Neue"/>
                <a:cs typeface="Helvetica Neue"/>
              </a:rPr>
              <a:t>Random Forest accuracy</a:t>
            </a:r>
          </a:p>
        </p:txBody>
      </p:sp>
      <p:sp>
        <p:nvSpPr>
          <p:cNvPr id="11" name="Rectangle 10">
            <a:extLst>
              <a:ext uri="{FF2B5EF4-FFF2-40B4-BE49-F238E27FC236}">
                <a16:creationId xmlns:a16="http://schemas.microsoft.com/office/drawing/2014/main" id="{C12EC2E1-73F6-4E98-97C7-3847ECF8D0EB}"/>
              </a:ext>
            </a:extLst>
          </p:cNvPr>
          <p:cNvSpPr>
            <a:spLocks noGrp="1"/>
          </p:cNvSpPr>
          <p:nvPr/>
        </p:nvSpPr>
        <p:spPr>
          <a:xfrm>
            <a:off x="9042603" y="4476750"/>
            <a:ext cx="3238500" cy="1393108"/>
          </a:xfrm>
          <a:prstGeom prst="rect">
            <a:avLst/>
          </a:prstGeom>
          <a:noFill/>
          <a:ln w="0">
            <a:noFill/>
            <a:prstDash val="solid"/>
          </a:ln>
        </p:spPr>
        <p:txBody>
          <a:bodyPr lIns="0" tIns="0" rIns="0" bIns="0" anchor="t"/>
          <a:lstStyle/>
          <a:p>
            <a:pPr algn="l">
              <a:lnSpc>
                <a:spcPct val="115000"/>
              </a:lnSpc>
              <a:buNone/>
              <a:defRPr sz="1425" b="0">
                <a:solidFill>
                  <a:srgbClr val="4B5563"/>
                </a:solidFill>
                <a:latin typeface="Helvetica Neue"/>
                <a:ea typeface="Helvetica Neue"/>
                <a:cs typeface="Helvetica Neue"/>
              </a:defRPr>
            </a:pPr>
            <a:r>
              <a:rPr sz="1425" b="0" dirty="0">
                <a:solidFill>
                  <a:srgbClr val="4B5563"/>
                </a:solidFill>
                <a:latin typeface="Helvetica Neue"/>
                <a:ea typeface="Helvetica Neue"/>
                <a:cs typeface="Helvetica Neue"/>
              </a:rPr>
              <a:t>Random Forest was selected as the best-performing model because it achieved stronger and more balanced precision, recall, and F1-score.</a:t>
            </a:r>
          </a:p>
        </p:txBody>
      </p:sp>
      <p:sp>
        <p:nvSpPr>
          <p:cNvPr id="12" name="Rectangle 11">
            <a:extLst>
              <a:ext uri="{FF2B5EF4-FFF2-40B4-BE49-F238E27FC236}">
                <a16:creationId xmlns:a16="http://schemas.microsoft.com/office/drawing/2014/main" id="{1CB2109D-5CB4-473A-AF16-A07F3498DA82}"/>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3" name="Rectangle 12">
            <a:extLst>
              <a:ext uri="{FF2B5EF4-FFF2-40B4-BE49-F238E27FC236}">
                <a16:creationId xmlns:a16="http://schemas.microsoft.com/office/drawing/2014/main" id="{44FAB462-2491-472C-AAAB-D70CB0D5A027}"/>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14</a:t>
            </a:r>
          </a:p>
        </p:txBody>
      </p:sp>
    </p:spTree>
    <p:extLst>
      <p:ext uri="{BB962C8B-B14F-4D97-AF65-F5344CB8AC3E}">
        <p14:creationId xmlns:p14="http://schemas.microsoft.com/office/powerpoint/2010/main" val="18573688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A1681B4-6D86-411F-9F25-2562412B2ED3}"/>
              </a:ext>
            </a:extLst>
          </p:cNvPr>
          <p:cNvSpPr>
            <a:spLocks noGrp="1"/>
          </p:cNvSpPr>
          <p:nvPr/>
        </p:nvSpPr>
        <p:spPr>
          <a:xfrm>
            <a:off x="666750" y="400050"/>
            <a:ext cx="8572500" cy="571500"/>
          </a:xfrm>
          <a:prstGeom prst="rect">
            <a:avLst/>
          </a:prstGeom>
          <a:noFill/>
          <a:ln w="0">
            <a:noFill/>
            <a:prstDash val="solid"/>
          </a:ln>
        </p:spPr>
        <p:txBody>
          <a:bodyPr lIns="0" tIns="0" rIns="0" bIns="0" anchor="t"/>
          <a:lstStyle/>
          <a:p>
            <a:pPr algn="l">
              <a:lnSpc>
                <a:spcPct val="115000"/>
              </a:lnSpc>
              <a:buNone/>
              <a:defRPr sz="2850" b="1">
                <a:solidFill>
                  <a:srgbClr val="111827"/>
                </a:solidFill>
                <a:latin typeface="Helvetica Neue"/>
                <a:ea typeface="Helvetica Neue"/>
                <a:cs typeface="Helvetica Neue"/>
              </a:defRPr>
            </a:pPr>
            <a:r>
              <a:rPr sz="2850" b="1" dirty="0">
                <a:solidFill>
                  <a:srgbClr val="111827"/>
                </a:solidFill>
                <a:latin typeface="Helvetica Neue"/>
                <a:ea typeface="Helvetica Neue"/>
                <a:cs typeface="Helvetica Neue"/>
              </a:rPr>
              <a:t>Recommendations and Conclusion</a:t>
            </a:r>
          </a:p>
        </p:txBody>
      </p:sp>
      <p:sp>
        <p:nvSpPr>
          <p:cNvPr id="2" name="Rectangle 1">
            <a:extLst>
              <a:ext uri="{FF2B5EF4-FFF2-40B4-BE49-F238E27FC236}">
                <a16:creationId xmlns:a16="http://schemas.microsoft.com/office/drawing/2014/main" id="{19EC14E9-88E2-4B3D-AC84-B190AB016C08}"/>
              </a:ext>
            </a:extLst>
          </p:cNvPr>
          <p:cNvSpPr>
            <a:spLocks noGrp="1"/>
          </p:cNvSpPr>
          <p:nvPr/>
        </p:nvSpPr>
        <p:spPr>
          <a:xfrm>
            <a:off x="666750" y="1000125"/>
            <a:ext cx="838200" cy="47625"/>
          </a:xfrm>
          <a:prstGeom prst="rect">
            <a:avLst/>
          </a:prstGeom>
          <a:solidFill>
            <a:srgbClr val="F59E0B"/>
          </a:solidFill>
          <a:ln w="0">
            <a:solidFill>
              <a:srgbClr val="F59E0B"/>
            </a:solidFill>
            <a:prstDash val="solid"/>
          </a:ln>
        </p:spPr>
        <p:txBody>
          <a:bodyPr/>
          <a:lstStyle/>
          <a:p>
            <a:endParaRPr lang="en-US"/>
          </a:p>
        </p:txBody>
      </p:sp>
      <p:sp>
        <p:nvSpPr>
          <p:cNvPr id="3" name="Rectangle 2">
            <a:extLst>
              <a:ext uri="{FF2B5EF4-FFF2-40B4-BE49-F238E27FC236}">
                <a16:creationId xmlns:a16="http://schemas.microsoft.com/office/drawing/2014/main" id="{8FA3637C-2912-4439-9201-7D662B9F21FB}"/>
              </a:ext>
            </a:extLst>
          </p:cNvPr>
          <p:cNvSpPr>
            <a:spLocks noGrp="1"/>
          </p:cNvSpPr>
          <p:nvPr/>
        </p:nvSpPr>
        <p:spPr>
          <a:xfrm>
            <a:off x="666750" y="1143000"/>
            <a:ext cx="8572500" cy="304800"/>
          </a:xfrm>
          <a:prstGeom prst="rect">
            <a:avLst/>
          </a:prstGeom>
          <a:noFill/>
          <a:ln w="0">
            <a:noFill/>
            <a:prstDash val="solid"/>
          </a:ln>
        </p:spPr>
        <p:txBody>
          <a:bodyPr lIns="0" tIns="0" rIns="0" bIns="0" anchor="t"/>
          <a:lstStyle/>
          <a:p>
            <a:pPr algn="l">
              <a:lnSpc>
                <a:spcPct val="115000"/>
              </a:lnSpc>
              <a:buNone/>
              <a:defRPr sz="1350" b="0">
                <a:solidFill>
                  <a:srgbClr val="4B5563"/>
                </a:solidFill>
                <a:latin typeface="Helvetica Neue"/>
                <a:ea typeface="Helvetica Neue"/>
                <a:cs typeface="Helvetica Neue"/>
              </a:defRPr>
            </a:pPr>
            <a:r>
              <a:rPr sz="1350" b="0">
                <a:solidFill>
                  <a:srgbClr val="4B5563"/>
                </a:solidFill>
                <a:latin typeface="Helvetica Neue"/>
                <a:ea typeface="Helvetica Neue"/>
                <a:cs typeface="Helvetica Neue"/>
              </a:rPr>
              <a:t>Visual: Confusion Matrix</a:t>
            </a:r>
          </a:p>
        </p:txBody>
      </p:sp>
      <p:pic>
        <p:nvPicPr>
          <p:cNvPr id="14" name="Picture 13"/>
          <p:cNvPicPr>
            <a:picLocks noChangeAspect="1"/>
          </p:cNvPicPr>
          <p:nvPr/>
        </p:nvPicPr>
        <p:blipFill>
          <a:blip r:embed="rId3"/>
          <a:stretch/>
        </p:blipFill>
        <p:spPr>
          <a:xfrm>
            <a:off x="0" y="1357314"/>
            <a:ext cx="8849032" cy="5036938"/>
          </a:xfrm>
          <a:prstGeom prst="rect">
            <a:avLst/>
          </a:prstGeom>
        </p:spPr>
      </p:pic>
      <p:sp>
        <p:nvSpPr>
          <p:cNvPr id="5" name="Rectangle 4">
            <a:extLst>
              <a:ext uri="{FF2B5EF4-FFF2-40B4-BE49-F238E27FC236}">
                <a16:creationId xmlns:a16="http://schemas.microsoft.com/office/drawing/2014/main" id="{2FD8AD73-F587-4F8B-83AD-55572C061DE9}"/>
              </a:ext>
            </a:extLst>
          </p:cNvPr>
          <p:cNvSpPr>
            <a:spLocks noGrp="1"/>
          </p:cNvSpPr>
          <p:nvPr/>
        </p:nvSpPr>
        <p:spPr>
          <a:xfrm>
            <a:off x="6848782" y="1378128"/>
            <a:ext cx="5334000" cy="3143250"/>
          </a:xfrm>
          <a:prstGeom prst="rect">
            <a:avLst/>
          </a:prstGeom>
          <a:noFill/>
          <a:ln w="0">
            <a:noFill/>
            <a:prstDash val="solid"/>
          </a:ln>
        </p:spPr>
        <p:txBody>
          <a:bodyPr lIns="0" tIns="0" rIns="76200" bIns="0"/>
          <a:lstStyle/>
          <a:p>
            <a:pPr marL="24" indent="-14">
              <a:lnSpc>
                <a:spcPct val="112000"/>
              </a:lnSpc>
              <a:spcAft>
                <a:spcPts val="8"/>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Apply stricter cancellation policies for long lead-time bookings</a:t>
            </a:r>
          </a:p>
          <a:p>
            <a:pPr marL="24" indent="-14">
              <a:lnSpc>
                <a:spcPct val="112000"/>
              </a:lnSpc>
              <a:spcAft>
                <a:spcPts val="8"/>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Use deposits or non-refundable discounts for early reservations</a:t>
            </a:r>
          </a:p>
          <a:p>
            <a:pPr marL="24" indent="-14">
              <a:lnSpc>
                <a:spcPct val="112000"/>
              </a:lnSpc>
              <a:spcAft>
                <a:spcPts val="8"/>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Send booking reminders to high-risk customers</a:t>
            </a:r>
          </a:p>
          <a:p>
            <a:pPr marL="24" indent="-14">
              <a:lnSpc>
                <a:spcPct val="112000"/>
              </a:lnSpc>
              <a:spcAft>
                <a:spcPts val="8"/>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Strengthen loyalty programs for repeat guests</a:t>
            </a:r>
          </a:p>
          <a:p>
            <a:pPr marL="24" indent="-14">
              <a:lnSpc>
                <a:spcPct val="112000"/>
              </a:lnSpc>
              <a:spcAft>
                <a:spcPts val="8"/>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Target families and larger groups with tailored packages</a:t>
            </a:r>
          </a:p>
          <a:p>
            <a:pPr marL="24" indent="-14">
              <a:lnSpc>
                <a:spcPct val="112000"/>
              </a:lnSpc>
              <a:spcAft>
                <a:spcPts val="8"/>
              </a:spcAft>
              <a:buNone/>
              <a:defRPr sz="1500">
                <a:solidFill>
                  <a:srgbClr val="111827"/>
                </a:solidFill>
                <a:latin typeface="Helvetica Neue"/>
                <a:ea typeface="Helvetica Neue"/>
                <a:cs typeface="Helvetica Neue"/>
              </a:defRPr>
            </a:pPr>
            <a:r>
              <a:rPr sz="1500" dirty="0">
                <a:solidFill>
                  <a:srgbClr val="111827"/>
                </a:solidFill>
                <a:latin typeface="Helvetica Neue"/>
                <a:ea typeface="Helvetica Neue"/>
                <a:cs typeface="Helvetica Neue"/>
              </a:rPr>
              <a:t>Use the Random Forest model to flag high-risk bookings early</a:t>
            </a:r>
          </a:p>
        </p:txBody>
      </p:sp>
      <p:sp>
        <p:nvSpPr>
          <p:cNvPr id="6" name="Rectangle: Rounded Corners 5">
            <a:extLst>
              <a:ext uri="{FF2B5EF4-FFF2-40B4-BE49-F238E27FC236}">
                <a16:creationId xmlns:a16="http://schemas.microsoft.com/office/drawing/2014/main" id="{E0262E17-1E27-494E-8595-8B6A75B0FB58}"/>
              </a:ext>
            </a:extLst>
          </p:cNvPr>
          <p:cNvSpPr>
            <a:spLocks noGrp="1"/>
          </p:cNvSpPr>
          <p:nvPr/>
        </p:nvSpPr>
        <p:spPr>
          <a:xfrm>
            <a:off x="6645377" y="4862512"/>
            <a:ext cx="5334000" cy="1704975"/>
          </a:xfrm>
          <a:prstGeom prst="roundRect">
            <a:avLst>
              <a:gd name="adj" fmla="val 10000"/>
            </a:avLst>
          </a:prstGeom>
          <a:solidFill>
            <a:srgbClr val="F59E0B"/>
          </a:solidFill>
          <a:ln w="9525">
            <a:solidFill>
              <a:srgbClr val="E5E7EB"/>
            </a:solidFill>
            <a:prstDash val="solid"/>
          </a:ln>
        </p:spPr>
        <p:txBody>
          <a:bodyPr/>
          <a:lstStyle/>
          <a:p>
            <a:endParaRPr lang="en-US"/>
          </a:p>
        </p:txBody>
      </p:sp>
      <p:sp>
        <p:nvSpPr>
          <p:cNvPr id="7" name="Rectangle 6">
            <a:extLst>
              <a:ext uri="{FF2B5EF4-FFF2-40B4-BE49-F238E27FC236}">
                <a16:creationId xmlns:a16="http://schemas.microsoft.com/office/drawing/2014/main" id="{00997256-D598-4549-83B3-D9A492C43ECD}"/>
              </a:ext>
            </a:extLst>
          </p:cNvPr>
          <p:cNvSpPr>
            <a:spLocks noGrp="1"/>
          </p:cNvSpPr>
          <p:nvPr/>
        </p:nvSpPr>
        <p:spPr>
          <a:xfrm>
            <a:off x="6854927" y="5076826"/>
            <a:ext cx="4914900" cy="266700"/>
          </a:xfrm>
          <a:prstGeom prst="rect">
            <a:avLst/>
          </a:prstGeom>
          <a:noFill/>
          <a:ln w="0">
            <a:noFill/>
            <a:prstDash val="solid"/>
          </a:ln>
        </p:spPr>
        <p:txBody>
          <a:bodyPr lIns="0" tIns="0" rIns="0" bIns="0" anchor="t"/>
          <a:lstStyle/>
          <a:p>
            <a:pPr algn="l">
              <a:lnSpc>
                <a:spcPct val="115000"/>
              </a:lnSpc>
              <a:buNone/>
              <a:defRPr sz="1500" b="1">
                <a:solidFill>
                  <a:srgbClr val="FFFFFF"/>
                </a:solidFill>
                <a:latin typeface="Helvetica Neue"/>
                <a:ea typeface="Helvetica Neue"/>
                <a:cs typeface="Helvetica Neue"/>
              </a:defRPr>
            </a:pPr>
            <a:r>
              <a:rPr sz="1500" b="1" dirty="0">
                <a:solidFill>
                  <a:srgbClr val="FFFFFF"/>
                </a:solidFill>
                <a:latin typeface="Helvetica Neue"/>
                <a:ea typeface="Helvetica Neue"/>
                <a:cs typeface="Helvetica Neue"/>
              </a:rPr>
              <a:t>Conclusion</a:t>
            </a:r>
          </a:p>
        </p:txBody>
      </p:sp>
      <p:sp>
        <p:nvSpPr>
          <p:cNvPr id="8" name="Rectangle 7">
            <a:extLst>
              <a:ext uri="{FF2B5EF4-FFF2-40B4-BE49-F238E27FC236}">
                <a16:creationId xmlns:a16="http://schemas.microsoft.com/office/drawing/2014/main" id="{CEB6E099-F617-408C-B4E2-FD899DE01017}"/>
              </a:ext>
            </a:extLst>
          </p:cNvPr>
          <p:cNvSpPr>
            <a:spLocks noGrp="1"/>
          </p:cNvSpPr>
          <p:nvPr/>
        </p:nvSpPr>
        <p:spPr>
          <a:xfrm>
            <a:off x="6854927" y="5514975"/>
            <a:ext cx="4914900" cy="879277"/>
          </a:xfrm>
          <a:prstGeom prst="rect">
            <a:avLst/>
          </a:prstGeom>
          <a:noFill/>
          <a:ln w="0">
            <a:noFill/>
            <a:prstDash val="solid"/>
          </a:ln>
        </p:spPr>
        <p:txBody>
          <a:bodyPr lIns="0" tIns="0" rIns="0" bIns="0" anchor="t"/>
          <a:lstStyle/>
          <a:p>
            <a:pPr algn="l">
              <a:lnSpc>
                <a:spcPct val="115000"/>
              </a:lnSpc>
              <a:buNone/>
              <a:defRPr sz="1350" b="0">
                <a:solidFill>
                  <a:srgbClr val="FFFFFF"/>
                </a:solidFill>
                <a:latin typeface="Helvetica Neue"/>
                <a:ea typeface="Helvetica Neue"/>
                <a:cs typeface="Helvetica Neue"/>
              </a:defRPr>
            </a:pPr>
            <a:r>
              <a:rPr sz="1350" b="0" dirty="0">
                <a:solidFill>
                  <a:srgbClr val="FFFFFF"/>
                </a:solidFill>
                <a:latin typeface="Helvetica Neue"/>
                <a:ea typeface="Helvetica Neue"/>
                <a:cs typeface="Helvetica Neue"/>
              </a:rPr>
              <a:t>The Random Forest model achieved 92% accuracy and can support proactive cancellation management, better revenue forecasting, and improved operational planning.</a:t>
            </a:r>
          </a:p>
        </p:txBody>
      </p:sp>
      <p:sp>
        <p:nvSpPr>
          <p:cNvPr id="9" name="Rectangle 8">
            <a:extLst>
              <a:ext uri="{FF2B5EF4-FFF2-40B4-BE49-F238E27FC236}">
                <a16:creationId xmlns:a16="http://schemas.microsoft.com/office/drawing/2014/main" id="{862873CC-11C5-4679-B797-F9984C6626DF}"/>
              </a:ext>
            </a:extLst>
          </p:cNvPr>
          <p:cNvSpPr>
            <a:spLocks noGrp="1"/>
          </p:cNvSpPr>
          <p:nvPr/>
        </p:nvSpPr>
        <p:spPr>
          <a:xfrm>
            <a:off x="666750" y="6419850"/>
            <a:ext cx="4476750" cy="190500"/>
          </a:xfrm>
          <a:prstGeom prst="rect">
            <a:avLst/>
          </a:prstGeom>
          <a:noFill/>
          <a:ln w="0">
            <a:noFill/>
            <a:prstDash val="solid"/>
          </a:ln>
        </p:spPr>
        <p:txBody>
          <a:bodyPr lIns="0" tIns="0" rIns="0" bIns="0" anchor="t"/>
          <a:lstStyle/>
          <a:p>
            <a:pPr algn="l">
              <a:lnSpc>
                <a:spcPct val="115000"/>
              </a:lnSpc>
              <a:buNone/>
              <a:defRPr sz="900" b="0">
                <a:solidFill>
                  <a:srgbClr val="6B7280"/>
                </a:solidFill>
                <a:latin typeface="Helvetica Neue"/>
                <a:ea typeface="Helvetica Neue"/>
                <a:cs typeface="Helvetica Neue"/>
              </a:defRPr>
            </a:pPr>
            <a:r>
              <a:rPr sz="900" b="0">
                <a:solidFill>
                  <a:srgbClr val="6B7280"/>
                </a:solidFill>
                <a:latin typeface="Helvetica Neue"/>
                <a:ea typeface="Helvetica Neue"/>
                <a:cs typeface="Helvetica Neue"/>
              </a:rPr>
              <a:t>Hotel Booking Cancellation Prediction</a:t>
            </a:r>
          </a:p>
        </p:txBody>
      </p:sp>
      <p:sp>
        <p:nvSpPr>
          <p:cNvPr id="10" name="Rectangle 9">
            <a:extLst>
              <a:ext uri="{FF2B5EF4-FFF2-40B4-BE49-F238E27FC236}">
                <a16:creationId xmlns:a16="http://schemas.microsoft.com/office/drawing/2014/main" id="{A54542EB-94D3-4931-8B3A-5C4087FB0CDC}"/>
              </a:ext>
            </a:extLst>
          </p:cNvPr>
          <p:cNvSpPr>
            <a:spLocks noGrp="1"/>
          </p:cNvSpPr>
          <p:nvPr/>
        </p:nvSpPr>
        <p:spPr>
          <a:xfrm>
            <a:off x="11125200" y="6381750"/>
            <a:ext cx="400050" cy="228600"/>
          </a:xfrm>
          <a:prstGeom prst="rect">
            <a:avLst/>
          </a:prstGeom>
          <a:noFill/>
          <a:ln w="0">
            <a:noFill/>
            <a:prstDash val="solid"/>
          </a:ln>
        </p:spPr>
        <p:txBody>
          <a:bodyPr lIns="0" tIns="0" rIns="0" bIns="0" anchor="t"/>
          <a:lstStyle/>
          <a:p>
            <a:pPr algn="r">
              <a:lnSpc>
                <a:spcPct val="115000"/>
              </a:lnSpc>
              <a:buNone/>
              <a:defRPr sz="975" b="1">
                <a:solidFill>
                  <a:srgbClr val="6B7280"/>
                </a:solidFill>
                <a:latin typeface="Helvetica Neue"/>
                <a:ea typeface="Helvetica Neue"/>
                <a:cs typeface="Helvetica Neue"/>
              </a:defRPr>
            </a:pPr>
            <a:r>
              <a:rPr sz="975" b="1">
                <a:solidFill>
                  <a:srgbClr val="6B7280"/>
                </a:solidFill>
                <a:latin typeface="Helvetica Neue"/>
                <a:ea typeface="Helvetica Neue"/>
                <a:cs typeface="Helvetica Neue"/>
              </a:rPr>
              <a:t>15</a:t>
            </a:r>
          </a:p>
        </p:txBody>
      </p:sp>
    </p:spTree>
    <p:extLst>
      <p:ext uri="{BB962C8B-B14F-4D97-AF65-F5344CB8AC3E}">
        <p14:creationId xmlns:p14="http://schemas.microsoft.com/office/powerpoint/2010/main" val="9750098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1810</Words>
  <Application>Microsoft Office PowerPoint</Application>
  <DocSecurity>0</DocSecurity>
  <PresentationFormat>Widescreen</PresentationFormat>
  <Paragraphs>185</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Calibri</vt:lpstr>
      <vt:lpstr>Helvetica Neue</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Jenefa Ukpong</cp:lastModifiedBy>
  <cp:revision>1</cp:revision>
  <dcterms:created xsi:type="dcterms:W3CDTF">2026-07-07T17:32:57Z</dcterms:created>
  <dcterms:modified xsi:type="dcterms:W3CDTF">2026-07-07T21:25:50Z</dcterms:modified>
</cp:coreProperties>
</file>